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0" r:id="rId4"/>
    <p:sldMasterId id="214748366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3e0ab6239d0_2_2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" name="Google Shape;54;g3e0ab6239d0_2_2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g3e0ab6239d0_2_2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e0ab6239d0_2_15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" name="Google Shape;67;g3e0ab6239d0_2_15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g3e0ab6239d0_2_15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e0ab6239d0_2_41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3" name="Google Shape;93;g3e0ab6239d0_2_41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g3e0ab6239d0_2_41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e0ab6239d0_2_71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3" name="Google Shape;123;g3e0ab6239d0_2_71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g3e0ab6239d0_2_71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e0ab6239d0_2_102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4" name="Google Shape;154;g3e0ab6239d0_2_102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g3e0ab6239d0_2_102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e0ab6239d0_2_136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8" name="Google Shape;188;g3e0ab6239d0_2_136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g3e0ab6239d0_2_136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e0ab6239d0_2_169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1" name="Google Shape;221;g3e0ab6239d0_2_169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g3e0ab6239d0_2_169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3e0ab6239d0_2_199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1" name="Google Shape;251;g3e0ab6239d0_2_199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g3e0ab6239d0_2_199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3e0ab6239d0_2_246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8" name="Google Shape;298;g3e0ab6239d0_2_246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g3e0ab6239d0_2_246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3e0ab6239d0_2_275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7" name="Google Shape;327;g3e0ab6239d0_2_275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g3e0ab6239d0_2_275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3e0ab6239d0_2_309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1" name="Google Shape;361;g3e0ab6239d0_2_309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g3e0ab6239d0_2_309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761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5"/>
          <p:cNvSpPr/>
          <p:nvPr/>
        </p:nvSpPr>
        <p:spPr>
          <a:xfrm>
            <a:off x="0" y="3474720"/>
            <a:ext cx="9144000" cy="1664208"/>
          </a:xfrm>
          <a:prstGeom prst="rect">
            <a:avLst/>
          </a:prstGeom>
          <a:solidFill>
            <a:srgbClr val="162055"/>
          </a:solidFill>
          <a:ln cap="flat" cmpd="sng" w="12700">
            <a:solidFill>
              <a:srgbClr val="1620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15"/>
          <p:cNvSpPr/>
          <p:nvPr/>
        </p:nvSpPr>
        <p:spPr>
          <a:xfrm>
            <a:off x="457200" y="502920"/>
            <a:ext cx="1463040" cy="347472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15"/>
          <p:cNvSpPr/>
          <p:nvPr/>
        </p:nvSpPr>
        <p:spPr>
          <a:xfrm>
            <a:off x="457200" y="502920"/>
            <a:ext cx="1463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fr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GIT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15"/>
          <p:cNvSpPr/>
          <p:nvPr/>
        </p:nvSpPr>
        <p:spPr>
          <a:xfrm>
            <a:off x="457200" y="100584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600"/>
              <a:buFont typeface="Calibri"/>
              <a:buNone/>
            </a:pPr>
            <a:r>
              <a:rPr b="1" i="0" lang="fr" sz="4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Avant Git…</a:t>
            </a:r>
            <a:endParaRPr b="0" i="0" sz="4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15"/>
          <p:cNvSpPr/>
          <p:nvPr/>
        </p:nvSpPr>
        <p:spPr>
          <a:xfrm>
            <a:off x="457200" y="196596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BD4"/>
              </a:buClr>
              <a:buSzPts val="2000"/>
              <a:buFont typeface="Consolas"/>
              <a:buNone/>
            </a:pPr>
            <a:r>
              <a:rPr b="0" i="0" lang="fr" sz="2000" u="none" cap="none" strike="noStrike">
                <a:solidFill>
                  <a:srgbClr val="AABBD4"/>
                </a:solidFill>
                <a:latin typeface="Consolas"/>
                <a:ea typeface="Consolas"/>
                <a:cs typeface="Consolas"/>
                <a:sym typeface="Consolas"/>
              </a:rPr>
              <a:t>projet_FINAL</a:t>
            </a:r>
            <a:r>
              <a:rPr b="0" i="0" lang="fr" sz="2000" u="none" cap="none" strike="noStrike">
                <a:solidFill>
                  <a:srgbClr val="FDBC2C"/>
                </a:solidFill>
                <a:latin typeface="Consolas"/>
                <a:ea typeface="Consolas"/>
                <a:cs typeface="Consolas"/>
                <a:sym typeface="Consolas"/>
              </a:rPr>
              <a:t>_v2</a:t>
            </a:r>
            <a:r>
              <a:rPr b="0" i="0" lang="fr" sz="2000" u="none" cap="none" strike="noStrike">
                <a:solidFill>
                  <a:srgbClr val="FC615D"/>
                </a:solidFill>
                <a:latin typeface="Consolas"/>
                <a:ea typeface="Consolas"/>
                <a:cs typeface="Consolas"/>
                <a:sym typeface="Consolas"/>
              </a:rPr>
              <a:t>_VRAI</a:t>
            </a:r>
            <a:r>
              <a:rPr b="0" i="0" lang="fr" sz="2000" u="none" cap="none" strike="noStrike">
                <a:solidFill>
                  <a:srgbClr val="34C749"/>
                </a:solidFill>
                <a:latin typeface="Consolas"/>
                <a:ea typeface="Consolas"/>
                <a:cs typeface="Consolas"/>
                <a:sym typeface="Consolas"/>
              </a:rPr>
              <a:t>_last</a:t>
            </a:r>
            <a:r>
              <a:rPr b="0" i="0" lang="fr" sz="2000" u="none" cap="none" strike="noStrike">
                <a:solidFill>
                  <a:srgbClr val="AABBD4"/>
                </a:solidFill>
                <a:latin typeface="Consolas"/>
                <a:ea typeface="Consolas"/>
                <a:cs typeface="Consolas"/>
                <a:sym typeface="Consolas"/>
              </a:rPr>
              <a:t>_FINAL2.zip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15"/>
          <p:cNvSpPr/>
          <p:nvPr/>
        </p:nvSpPr>
        <p:spPr>
          <a:xfrm>
            <a:off x="457200" y="274320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BD4"/>
              </a:buClr>
              <a:buSzPts val="1400"/>
              <a:buFont typeface="Calibri"/>
              <a:buNone/>
            </a:pPr>
            <a:r>
              <a:rPr b="0" i="1" lang="fr" sz="1400" u="none" cap="none" strike="noStrike">
                <a:solidFill>
                  <a:srgbClr val="AABBD4"/>
                </a:solidFill>
                <a:latin typeface="Calibri"/>
                <a:ea typeface="Calibri"/>
                <a:cs typeface="Calibri"/>
                <a:sym typeface="Calibri"/>
              </a:rPr>
              <a:t>Qui a déjà perdu du travail en écrasant un fichier ?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15"/>
          <p:cNvSpPr/>
          <p:nvPr/>
        </p:nvSpPr>
        <p:spPr>
          <a:xfrm>
            <a:off x="457200" y="361188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E4F7"/>
              </a:buClr>
              <a:buSzPts val="1300"/>
              <a:buFont typeface="Calibri"/>
              <a:buNone/>
            </a:pPr>
            <a:r>
              <a:rPr b="0" i="0" lang="fr" sz="1300" u="none" cap="none" strike="noStrike">
                <a:solidFill>
                  <a:srgbClr val="D6E4F7"/>
                </a:solidFill>
                <a:latin typeface="Calibri"/>
                <a:ea typeface="Calibri"/>
                <a:cs typeface="Calibri"/>
                <a:sym typeface="Calibri"/>
              </a:rPr>
              <a:t>Git résout exactement ce problème —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E4F7"/>
              </a:buClr>
              <a:buSzPts val="1300"/>
              <a:buFont typeface="Calibri"/>
              <a:buNone/>
            </a:pPr>
            <a:r>
              <a:rPr b="0" i="0" lang="fr" sz="1300" u="none" cap="none" strike="noStrike">
                <a:solidFill>
                  <a:srgbClr val="D6E4F7"/>
                </a:solidFill>
                <a:latin typeface="Calibri"/>
                <a:ea typeface="Calibri"/>
                <a:cs typeface="Calibri"/>
                <a:sym typeface="Calibri"/>
              </a:rPr>
              <a:t>pour 1 fichier comme pour 10 000.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15"/>
          <p:cNvSpPr/>
          <p:nvPr/>
        </p:nvSpPr>
        <p:spPr>
          <a:xfrm>
            <a:off x="0" y="4846320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A6699"/>
              </a:buClr>
              <a:buSzPts val="900"/>
              <a:buFont typeface="Calibri"/>
              <a:buNone/>
            </a:pPr>
            <a:r>
              <a:rPr b="0" i="0" lang="fr" sz="900" u="none" cap="none" strike="noStrike">
                <a:solidFill>
                  <a:srgbClr val="4A6699"/>
                </a:solidFill>
                <a:latin typeface="Calibri"/>
                <a:ea typeface="Calibri"/>
                <a:cs typeface="Calibri"/>
                <a:sym typeface="Calibri"/>
              </a:rPr>
              <a:t>Slide 1 / 11  ·  ~1 min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6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16"/>
          <p:cNvSpPr/>
          <p:nvPr/>
        </p:nvSpPr>
        <p:spPr>
          <a:xfrm>
            <a:off x="274320" y="0"/>
            <a:ext cx="5486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BD4"/>
              </a:buClr>
              <a:buSzPts val="1000"/>
              <a:buFont typeface="Calibri"/>
              <a:buNone/>
            </a:pPr>
            <a:r>
              <a:rPr b="0" i="0" lang="fr" sz="1000" u="none" cap="none" strike="noStrike">
                <a:solidFill>
                  <a:srgbClr val="AABBD4"/>
                </a:solidFill>
                <a:latin typeface="Calibri"/>
                <a:ea typeface="Calibri"/>
                <a:cs typeface="Calibri"/>
                <a:sym typeface="Calibri"/>
              </a:rPr>
              <a:t>Introduction à Git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16"/>
          <p:cNvSpPr/>
          <p:nvPr/>
        </p:nvSpPr>
        <p:spPr>
          <a:xfrm>
            <a:off x="6949440" y="91440"/>
            <a:ext cx="1097280" cy="292608"/>
          </a:xfrm>
          <a:prstGeom prst="roundRect">
            <a:avLst>
              <a:gd fmla="val 15625" name="adj"/>
            </a:avLst>
          </a:prstGeom>
          <a:solidFill>
            <a:srgbClr val="DBEAFE"/>
          </a:solidFill>
          <a:ln cap="flat" cmpd="sng" w="12700">
            <a:solidFill>
              <a:srgbClr val="DBEA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16"/>
          <p:cNvSpPr/>
          <p:nvPr/>
        </p:nvSpPr>
        <p:spPr>
          <a:xfrm>
            <a:off x="6949440" y="91440"/>
            <a:ext cx="10972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900"/>
              <a:buFont typeface="Calibri"/>
              <a:buNone/>
            </a:pPr>
            <a:r>
              <a:rPr b="1" i="0" lang="fr" sz="90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CONTEXTE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16"/>
          <p:cNvSpPr/>
          <p:nvPr/>
        </p:nvSpPr>
        <p:spPr>
          <a:xfrm>
            <a:off x="365760" y="566928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1" i="0" lang="fr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INTRODUCTION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16"/>
          <p:cNvSpPr/>
          <p:nvPr/>
        </p:nvSpPr>
        <p:spPr>
          <a:xfrm>
            <a:off x="365760" y="896112"/>
            <a:ext cx="84124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600"/>
              <a:buFont typeface="Calibri"/>
              <a:buNone/>
            </a:pPr>
            <a:r>
              <a:rPr b="1" i="0" lang="fr" sz="26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Qu'est-ce que Git ?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16"/>
          <p:cNvSpPr/>
          <p:nvPr/>
        </p:nvSpPr>
        <p:spPr>
          <a:xfrm>
            <a:off x="365760" y="1481328"/>
            <a:ext cx="84124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Calibri"/>
              <a:buNone/>
            </a:pPr>
            <a:r>
              <a:rPr b="0" i="1" lang="fr" sz="13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Un système de contrôle de versions distribué, libre et gratuit.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16"/>
          <p:cNvSpPr/>
          <p:nvPr/>
        </p:nvSpPr>
        <p:spPr>
          <a:xfrm>
            <a:off x="365760" y="1920240"/>
            <a:ext cx="2606040" cy="10058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16"/>
          <p:cNvSpPr/>
          <p:nvPr/>
        </p:nvSpPr>
        <p:spPr>
          <a:xfrm>
            <a:off x="365760" y="1920240"/>
            <a:ext cx="54864" cy="1005840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16"/>
          <p:cNvSpPr/>
          <p:nvPr/>
        </p:nvSpPr>
        <p:spPr>
          <a:xfrm>
            <a:off x="530352" y="2029968"/>
            <a:ext cx="2331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2200"/>
              <a:buFont typeface="Calibri"/>
              <a:buNone/>
            </a:pPr>
            <a:r>
              <a:rPr b="1" i="0" lang="fr" sz="220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Avr. 2005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16"/>
          <p:cNvSpPr/>
          <p:nvPr/>
        </p:nvSpPr>
        <p:spPr>
          <a:xfrm>
            <a:off x="530352" y="2487168"/>
            <a:ext cx="23317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fr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Premier commit (Linus Torvalds)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16"/>
          <p:cNvSpPr/>
          <p:nvPr/>
        </p:nvSpPr>
        <p:spPr>
          <a:xfrm>
            <a:off x="3154680" y="1920240"/>
            <a:ext cx="2606040" cy="10058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6"/>
          <p:cNvSpPr/>
          <p:nvPr/>
        </p:nvSpPr>
        <p:spPr>
          <a:xfrm>
            <a:off x="3154680" y="1920240"/>
            <a:ext cx="54864" cy="1005840"/>
          </a:xfrm>
          <a:prstGeom prst="rect">
            <a:avLst/>
          </a:prstGeom>
          <a:solidFill>
            <a:srgbClr val="16A34A"/>
          </a:solidFill>
          <a:ln cap="flat" cmpd="sng" w="12700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6"/>
          <p:cNvSpPr/>
          <p:nvPr/>
        </p:nvSpPr>
        <p:spPr>
          <a:xfrm>
            <a:off x="3319272" y="2029968"/>
            <a:ext cx="2331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2200"/>
              <a:buFont typeface="Calibri"/>
              <a:buNone/>
            </a:pPr>
            <a:r>
              <a:rPr b="1" i="0" lang="fr" sz="2200" u="none" cap="none" strike="noStrike">
                <a:solidFill>
                  <a:srgbClr val="16A34A"/>
                </a:solidFill>
                <a:latin typeface="Calibri"/>
                <a:ea typeface="Calibri"/>
                <a:cs typeface="Calibri"/>
                <a:sym typeface="Calibri"/>
              </a:rPr>
              <a:t>94 %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16"/>
          <p:cNvSpPr/>
          <p:nvPr/>
        </p:nvSpPr>
        <p:spPr>
          <a:xfrm>
            <a:off x="3319272" y="2487168"/>
            <a:ext cx="23317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fr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des devs utilisent Git (Stack Overflow)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6"/>
          <p:cNvSpPr/>
          <p:nvPr/>
        </p:nvSpPr>
        <p:spPr>
          <a:xfrm>
            <a:off x="5943600" y="1920240"/>
            <a:ext cx="2834640" cy="10058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6"/>
          <p:cNvSpPr/>
          <p:nvPr/>
        </p:nvSpPr>
        <p:spPr>
          <a:xfrm>
            <a:off x="5943600" y="1920240"/>
            <a:ext cx="54864" cy="1005840"/>
          </a:xfrm>
          <a:prstGeom prst="rect">
            <a:avLst/>
          </a:prstGeom>
          <a:solidFill>
            <a:srgbClr val="EA580C"/>
          </a:solidFill>
          <a:ln cap="flat" cmpd="sng" w="12700">
            <a:solidFill>
              <a:srgbClr val="EA580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6"/>
          <p:cNvSpPr/>
          <p:nvPr/>
        </p:nvSpPr>
        <p:spPr>
          <a:xfrm>
            <a:off x="6108192" y="2029968"/>
            <a:ext cx="2560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580C"/>
              </a:buClr>
              <a:buSzPts val="2200"/>
              <a:buFont typeface="Calibri"/>
              <a:buNone/>
            </a:pPr>
            <a:r>
              <a:rPr b="1" i="0" lang="fr" sz="2200" u="none" cap="none" strike="noStrike">
                <a:solidFill>
                  <a:srgbClr val="EA580C"/>
                </a:solidFill>
                <a:latin typeface="Calibri"/>
                <a:ea typeface="Calibri"/>
                <a:cs typeface="Calibri"/>
                <a:sym typeface="Calibri"/>
              </a:rPr>
              <a:t>2005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6"/>
          <p:cNvSpPr/>
          <p:nvPr/>
        </p:nvSpPr>
        <p:spPr>
          <a:xfrm>
            <a:off x="6108192" y="2487168"/>
            <a:ext cx="25603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fr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Junio Hamano reprend la maintenance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6"/>
          <p:cNvSpPr/>
          <p:nvPr/>
        </p:nvSpPr>
        <p:spPr>
          <a:xfrm>
            <a:off x="365760" y="3108960"/>
            <a:ext cx="841248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50"/>
              <a:buFont typeface="Calibri"/>
              <a:buChar char="•"/>
            </a:pPr>
            <a:r>
              <a:rPr b="0" i="0" lang="fr" sz="12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Créé en ~10 jours après la perte d'accès à BitKeeper (outil propriétaire du kernel Linux)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E293B"/>
              </a:buClr>
              <a:buSzPts val="1250"/>
              <a:buFont typeface="Calibri"/>
              <a:buChar char="•"/>
            </a:pPr>
            <a:r>
              <a:rPr b="0" i="0" lang="fr" sz="12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Version stable 1.0 : 21 décembre 2005 — inchangé dans ses principes depuis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E293B"/>
              </a:buClr>
              <a:buSzPts val="1250"/>
              <a:buFont typeface="Calibri"/>
              <a:buChar char="•"/>
            </a:pPr>
            <a:r>
              <a:rPr b="0" i="0" lang="fr" sz="12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Aujourd'hui utilisé par GitHub, GitLab, tous les éditeurs de jeux vidéo, NASA, Google…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6"/>
          <p:cNvSpPr/>
          <p:nvPr/>
        </p:nvSpPr>
        <p:spPr>
          <a:xfrm>
            <a:off x="365760" y="4736592"/>
            <a:ext cx="8412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1" lang="fr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📎 git-scm.com · github.blog/open-source/git/git-turns-20-a-qa-with-linus-torvalds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7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17"/>
          <p:cNvSpPr/>
          <p:nvPr/>
        </p:nvSpPr>
        <p:spPr>
          <a:xfrm>
            <a:off x="274320" y="0"/>
            <a:ext cx="5486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BD4"/>
              </a:buClr>
              <a:buSzPts val="1000"/>
              <a:buFont typeface="Calibri"/>
              <a:buNone/>
            </a:pPr>
            <a:r>
              <a:rPr b="0" i="0" lang="fr" sz="1000" u="none" cap="none" strike="noStrike">
                <a:solidFill>
                  <a:srgbClr val="AABBD4"/>
                </a:solidFill>
                <a:latin typeface="Calibri"/>
                <a:ea typeface="Calibri"/>
                <a:cs typeface="Calibri"/>
                <a:sym typeface="Calibri"/>
              </a:rPr>
              <a:t>Introduction à Git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7"/>
          <p:cNvSpPr/>
          <p:nvPr/>
        </p:nvSpPr>
        <p:spPr>
          <a:xfrm>
            <a:off x="6949440" y="91440"/>
            <a:ext cx="1097280" cy="292608"/>
          </a:xfrm>
          <a:prstGeom prst="roundRect">
            <a:avLst>
              <a:gd fmla="val 15625" name="adj"/>
            </a:avLst>
          </a:prstGeom>
          <a:solidFill>
            <a:srgbClr val="DBEAFE"/>
          </a:solidFill>
          <a:ln cap="flat" cmpd="sng" w="12700">
            <a:solidFill>
              <a:srgbClr val="DBEA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17"/>
          <p:cNvSpPr/>
          <p:nvPr/>
        </p:nvSpPr>
        <p:spPr>
          <a:xfrm>
            <a:off x="6949440" y="91440"/>
            <a:ext cx="10972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900"/>
              <a:buFont typeface="Calibri"/>
              <a:buNone/>
            </a:pPr>
            <a:r>
              <a:rPr b="1" i="0" lang="fr" sz="90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CONCEPT CLÉ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7"/>
          <p:cNvSpPr/>
          <p:nvPr/>
        </p:nvSpPr>
        <p:spPr>
          <a:xfrm>
            <a:off x="365760" y="566928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1" i="0" lang="fr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BASES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7"/>
          <p:cNvSpPr/>
          <p:nvPr/>
        </p:nvSpPr>
        <p:spPr>
          <a:xfrm>
            <a:off x="365760" y="896112"/>
            <a:ext cx="84124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600"/>
              <a:buFont typeface="Calibri"/>
              <a:buNone/>
            </a:pPr>
            <a:r>
              <a:rPr b="1" i="0" lang="fr" sz="26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Repo, commit, historique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7"/>
          <p:cNvSpPr/>
          <p:nvPr/>
        </p:nvSpPr>
        <p:spPr>
          <a:xfrm>
            <a:off x="365760" y="1481328"/>
            <a:ext cx="84124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Calibri"/>
              <a:buNone/>
            </a:pPr>
            <a:r>
              <a:rPr b="0" i="1" lang="fr" sz="13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Les 3 mots à retenir avant tout le reste.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7"/>
          <p:cNvSpPr/>
          <p:nvPr/>
        </p:nvSpPr>
        <p:spPr>
          <a:xfrm>
            <a:off x="365760" y="1874520"/>
            <a:ext cx="2743200" cy="1371600"/>
          </a:xfrm>
          <a:prstGeom prst="rect">
            <a:avLst/>
          </a:prstGeom>
          <a:solidFill>
            <a:srgbClr val="DBEAFE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17"/>
          <p:cNvSpPr/>
          <p:nvPr/>
        </p:nvSpPr>
        <p:spPr>
          <a:xfrm>
            <a:off x="365760" y="1938528"/>
            <a:ext cx="6400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b="0" i="0" lang="f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📦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7"/>
          <p:cNvSpPr/>
          <p:nvPr/>
        </p:nvSpPr>
        <p:spPr>
          <a:xfrm>
            <a:off x="914400" y="1938528"/>
            <a:ext cx="21488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300"/>
              <a:buFont typeface="Calibri"/>
              <a:buNone/>
            </a:pPr>
            <a:r>
              <a:rPr b="1" i="0" lang="fr" sz="130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Repository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7"/>
          <p:cNvSpPr/>
          <p:nvPr/>
        </p:nvSpPr>
        <p:spPr>
          <a:xfrm>
            <a:off x="457200" y="2377440"/>
            <a:ext cx="2578608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b="0" i="0" lang="fr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Le coffre-fort du projet + tout son historique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7"/>
          <p:cNvSpPr/>
          <p:nvPr/>
        </p:nvSpPr>
        <p:spPr>
          <a:xfrm>
            <a:off x="3246120" y="1874520"/>
            <a:ext cx="2743200" cy="1371600"/>
          </a:xfrm>
          <a:prstGeom prst="rect">
            <a:avLst/>
          </a:prstGeom>
          <a:solidFill>
            <a:srgbClr val="DCFCE7"/>
          </a:solidFill>
          <a:ln cap="flat" cmpd="sng" w="12700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17"/>
          <p:cNvSpPr/>
          <p:nvPr/>
        </p:nvSpPr>
        <p:spPr>
          <a:xfrm>
            <a:off x="3246120" y="1938528"/>
            <a:ext cx="6400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b="0" i="0" lang="f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📸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7"/>
          <p:cNvSpPr/>
          <p:nvPr/>
        </p:nvSpPr>
        <p:spPr>
          <a:xfrm>
            <a:off x="3794760" y="1938528"/>
            <a:ext cx="21488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1300"/>
              <a:buFont typeface="Calibri"/>
              <a:buNone/>
            </a:pPr>
            <a:r>
              <a:rPr b="1" i="0" lang="fr" sz="1300" u="none" cap="none" strike="noStrike">
                <a:solidFill>
                  <a:srgbClr val="16A34A"/>
                </a:solidFill>
                <a:latin typeface="Calibri"/>
                <a:ea typeface="Calibri"/>
                <a:cs typeface="Calibri"/>
                <a:sym typeface="Calibri"/>
              </a:rPr>
              <a:t>Commit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7"/>
          <p:cNvSpPr/>
          <p:nvPr/>
        </p:nvSpPr>
        <p:spPr>
          <a:xfrm>
            <a:off x="3337560" y="2377440"/>
            <a:ext cx="2578608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b="0" i="0" lang="fr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Snapshot à un instant T avec un message et un auteur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7"/>
          <p:cNvSpPr/>
          <p:nvPr/>
        </p:nvSpPr>
        <p:spPr>
          <a:xfrm>
            <a:off x="6126480" y="1874520"/>
            <a:ext cx="2743200" cy="1371600"/>
          </a:xfrm>
          <a:prstGeom prst="rect">
            <a:avLst/>
          </a:prstGeom>
          <a:solidFill>
            <a:srgbClr val="FFEDD5"/>
          </a:solidFill>
          <a:ln cap="flat" cmpd="sng" w="12700">
            <a:solidFill>
              <a:srgbClr val="EA580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17"/>
          <p:cNvSpPr/>
          <p:nvPr/>
        </p:nvSpPr>
        <p:spPr>
          <a:xfrm>
            <a:off x="6126480" y="1938528"/>
            <a:ext cx="6400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b="0" i="0" lang="fr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🔑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7"/>
          <p:cNvSpPr/>
          <p:nvPr/>
        </p:nvSpPr>
        <p:spPr>
          <a:xfrm>
            <a:off x="6675120" y="1938528"/>
            <a:ext cx="21488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580C"/>
              </a:buClr>
              <a:buSzPts val="1300"/>
              <a:buFont typeface="Calibri"/>
              <a:buNone/>
            </a:pPr>
            <a:r>
              <a:rPr b="1" i="0" lang="fr" sz="1300" u="none" cap="none" strike="noStrike">
                <a:solidFill>
                  <a:srgbClr val="EA580C"/>
                </a:solidFill>
                <a:latin typeface="Calibri"/>
                <a:ea typeface="Calibri"/>
                <a:cs typeface="Calibri"/>
                <a:sym typeface="Calibri"/>
              </a:rPr>
              <a:t>Hash SHA-1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7"/>
          <p:cNvSpPr/>
          <p:nvPr/>
        </p:nvSpPr>
        <p:spPr>
          <a:xfrm>
            <a:off x="6217920" y="2377440"/>
            <a:ext cx="2578608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b="0" i="0" lang="fr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Identifiant unique et infalsifiable de chaque commit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7"/>
          <p:cNvSpPr/>
          <p:nvPr/>
        </p:nvSpPr>
        <p:spPr>
          <a:xfrm>
            <a:off x="365760" y="3364992"/>
            <a:ext cx="8412480" cy="1234440"/>
          </a:xfrm>
          <a:prstGeom prst="rect">
            <a:avLst/>
          </a:prstGeom>
          <a:solidFill>
            <a:srgbClr val="F1F5F9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17"/>
          <p:cNvSpPr/>
          <p:nvPr/>
        </p:nvSpPr>
        <p:spPr>
          <a:xfrm>
            <a:off x="475488" y="3474720"/>
            <a:ext cx="100584" cy="100584"/>
          </a:xfrm>
          <a:prstGeom prst="ellipse">
            <a:avLst/>
          </a:prstGeom>
          <a:solidFill>
            <a:srgbClr val="FC615D"/>
          </a:solidFill>
          <a:ln cap="flat" cmpd="sng" w="12700">
            <a:solidFill>
              <a:srgbClr val="FC61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17"/>
          <p:cNvSpPr/>
          <p:nvPr/>
        </p:nvSpPr>
        <p:spPr>
          <a:xfrm>
            <a:off x="612648" y="3474720"/>
            <a:ext cx="100584" cy="100584"/>
          </a:xfrm>
          <a:prstGeom prst="ellipse">
            <a:avLst/>
          </a:prstGeom>
          <a:solidFill>
            <a:srgbClr val="FDBC2C"/>
          </a:solidFill>
          <a:ln cap="flat" cmpd="sng" w="12700">
            <a:solidFill>
              <a:srgbClr val="FDBC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17"/>
          <p:cNvSpPr/>
          <p:nvPr/>
        </p:nvSpPr>
        <p:spPr>
          <a:xfrm>
            <a:off x="749808" y="3474720"/>
            <a:ext cx="100584" cy="100584"/>
          </a:xfrm>
          <a:prstGeom prst="ellipse">
            <a:avLst/>
          </a:prstGeom>
          <a:solidFill>
            <a:srgbClr val="34C749"/>
          </a:solidFill>
          <a:ln cap="flat" cmpd="sng" w="12700">
            <a:solidFill>
              <a:srgbClr val="34C7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17"/>
          <p:cNvSpPr/>
          <p:nvPr/>
        </p:nvSpPr>
        <p:spPr>
          <a:xfrm>
            <a:off x="475488" y="3657600"/>
            <a:ext cx="8193024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onsolas"/>
              <a:buNone/>
            </a:pPr>
            <a:r>
              <a:rPr b="0" i="0" lang="fr" sz="1050" u="none" cap="none" strike="noStrike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git init              # créer un nouveau repo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onsolas"/>
              <a:buNone/>
            </a:pPr>
            <a:r>
              <a:rPr b="0" i="0" lang="fr" sz="1050" u="none" cap="none" strike="noStrike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git add fichier.txt   # préparer les changements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onsolas"/>
              <a:buNone/>
            </a:pPr>
            <a:r>
              <a:rPr b="0" i="0" lang="fr" sz="1050" u="none" cap="none" strike="noStrike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git commit -m "Mon premier commit"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onsolas"/>
              <a:buNone/>
            </a:pPr>
            <a:r>
              <a:rPr b="0" i="0" lang="fr" sz="1050" u="none" cap="none" strike="noStrike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git log --oneline     # voir l'historique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7"/>
          <p:cNvSpPr/>
          <p:nvPr/>
        </p:nvSpPr>
        <p:spPr>
          <a:xfrm>
            <a:off x="365760" y="4736592"/>
            <a:ext cx="8412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1" lang="fr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📎 git-scm.com/book — Pro Git, Chacon &amp; Straub (gratuit en ligne)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8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18"/>
          <p:cNvSpPr/>
          <p:nvPr/>
        </p:nvSpPr>
        <p:spPr>
          <a:xfrm>
            <a:off x="274320" y="0"/>
            <a:ext cx="5486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BD4"/>
              </a:buClr>
              <a:buSzPts val="1000"/>
              <a:buFont typeface="Calibri"/>
              <a:buNone/>
            </a:pPr>
            <a:r>
              <a:rPr b="0" i="0" lang="fr" sz="1000" u="none" cap="none" strike="noStrike">
                <a:solidFill>
                  <a:srgbClr val="AABBD4"/>
                </a:solidFill>
                <a:latin typeface="Calibri"/>
                <a:ea typeface="Calibri"/>
                <a:cs typeface="Calibri"/>
                <a:sym typeface="Calibri"/>
              </a:rPr>
              <a:t>Introduction à Git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8"/>
          <p:cNvSpPr/>
          <p:nvPr/>
        </p:nvSpPr>
        <p:spPr>
          <a:xfrm>
            <a:off x="6949440" y="91440"/>
            <a:ext cx="1097280" cy="292608"/>
          </a:xfrm>
          <a:prstGeom prst="roundRect">
            <a:avLst>
              <a:gd fmla="val 15625" name="adj"/>
            </a:avLst>
          </a:prstGeom>
          <a:solidFill>
            <a:srgbClr val="DBEAFE"/>
          </a:solidFill>
          <a:ln cap="flat" cmpd="sng" w="12700">
            <a:solidFill>
              <a:srgbClr val="DBEA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18"/>
          <p:cNvSpPr/>
          <p:nvPr/>
        </p:nvSpPr>
        <p:spPr>
          <a:xfrm>
            <a:off x="6949440" y="91440"/>
            <a:ext cx="10972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900"/>
              <a:buFont typeface="Calibri"/>
              <a:buNone/>
            </a:pPr>
            <a:r>
              <a:rPr b="1" i="0" lang="fr" sz="90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CONCEPT CLÉ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8"/>
          <p:cNvSpPr/>
          <p:nvPr/>
        </p:nvSpPr>
        <p:spPr>
          <a:xfrm>
            <a:off x="365760" y="566928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1" i="0" lang="fr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BASES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8"/>
          <p:cNvSpPr/>
          <p:nvPr/>
        </p:nvSpPr>
        <p:spPr>
          <a:xfrm>
            <a:off x="365760" y="896112"/>
            <a:ext cx="84124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600"/>
              <a:buFont typeface="Calibri"/>
              <a:buNone/>
            </a:pPr>
            <a:r>
              <a:rPr b="1" i="0" lang="fr" sz="26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Les 3 zones de Git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8"/>
          <p:cNvSpPr/>
          <p:nvPr/>
        </p:nvSpPr>
        <p:spPr>
          <a:xfrm>
            <a:off x="365760" y="1481328"/>
            <a:ext cx="84124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Calibri"/>
              <a:buNone/>
            </a:pPr>
            <a:r>
              <a:rPr b="0" i="1" lang="fr" sz="13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Comprendre ceci évite 80 % des confusions débutantes.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8"/>
          <p:cNvSpPr/>
          <p:nvPr/>
        </p:nvSpPr>
        <p:spPr>
          <a:xfrm>
            <a:off x="320040" y="1901952"/>
            <a:ext cx="2606040" cy="1508760"/>
          </a:xfrm>
          <a:prstGeom prst="rect">
            <a:avLst/>
          </a:prstGeom>
          <a:solidFill>
            <a:srgbClr val="FFEDD5"/>
          </a:solidFill>
          <a:ln cap="flat" cmpd="sng" w="12700">
            <a:solidFill>
              <a:srgbClr val="EA580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18"/>
          <p:cNvSpPr/>
          <p:nvPr/>
        </p:nvSpPr>
        <p:spPr>
          <a:xfrm>
            <a:off x="320040" y="1975104"/>
            <a:ext cx="26060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fr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🗂️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8"/>
          <p:cNvSpPr/>
          <p:nvPr/>
        </p:nvSpPr>
        <p:spPr>
          <a:xfrm>
            <a:off x="320040" y="2468880"/>
            <a:ext cx="26060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A580C"/>
              </a:buClr>
              <a:buSzPts val="1300"/>
              <a:buFont typeface="Calibri"/>
              <a:buNone/>
            </a:pPr>
            <a:r>
              <a:rPr b="1" i="0" lang="fr" sz="1300" u="none" cap="none" strike="noStrike">
                <a:solidFill>
                  <a:srgbClr val="EA580C"/>
                </a:solidFill>
                <a:latin typeface="Calibri"/>
                <a:ea typeface="Calibri"/>
                <a:cs typeface="Calibri"/>
                <a:sym typeface="Calibri"/>
              </a:rPr>
              <a:t>Working Directory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8"/>
          <p:cNvSpPr/>
          <p:nvPr/>
        </p:nvSpPr>
        <p:spPr>
          <a:xfrm>
            <a:off x="3246120" y="1901952"/>
            <a:ext cx="2606040" cy="1508760"/>
          </a:xfrm>
          <a:prstGeom prst="rect">
            <a:avLst/>
          </a:prstGeom>
          <a:solidFill>
            <a:srgbClr val="DBEAFE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18"/>
          <p:cNvSpPr/>
          <p:nvPr/>
        </p:nvSpPr>
        <p:spPr>
          <a:xfrm>
            <a:off x="3246120" y="1975104"/>
            <a:ext cx="26060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fr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📋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8"/>
          <p:cNvSpPr/>
          <p:nvPr/>
        </p:nvSpPr>
        <p:spPr>
          <a:xfrm>
            <a:off x="3246120" y="2468880"/>
            <a:ext cx="26060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300"/>
              <a:buFont typeface="Calibri"/>
              <a:buNone/>
            </a:pPr>
            <a:r>
              <a:rPr b="1" i="0" lang="fr" sz="130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Staging Area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8"/>
          <p:cNvSpPr/>
          <p:nvPr/>
        </p:nvSpPr>
        <p:spPr>
          <a:xfrm>
            <a:off x="6172200" y="1901952"/>
            <a:ext cx="2606040" cy="1508760"/>
          </a:xfrm>
          <a:prstGeom prst="rect">
            <a:avLst/>
          </a:prstGeom>
          <a:solidFill>
            <a:srgbClr val="DCFCE7"/>
          </a:solidFill>
          <a:ln cap="flat" cmpd="sng" w="12700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18"/>
          <p:cNvSpPr/>
          <p:nvPr/>
        </p:nvSpPr>
        <p:spPr>
          <a:xfrm>
            <a:off x="6172200" y="1975104"/>
            <a:ext cx="26060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fr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🏛️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8"/>
          <p:cNvSpPr/>
          <p:nvPr/>
        </p:nvSpPr>
        <p:spPr>
          <a:xfrm>
            <a:off x="6172200" y="2468880"/>
            <a:ext cx="26060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1300"/>
              <a:buFont typeface="Calibri"/>
              <a:buNone/>
            </a:pPr>
            <a:r>
              <a:rPr b="1" i="0" lang="fr" sz="1300" u="none" cap="none" strike="noStrike">
                <a:solidFill>
                  <a:srgbClr val="16A34A"/>
                </a:solidFill>
                <a:latin typeface="Calibri"/>
                <a:ea typeface="Calibri"/>
                <a:cs typeface="Calibri"/>
                <a:sym typeface="Calibri"/>
              </a:rPr>
              <a:t>Repository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2" name="Google Shape;142;p18"/>
          <p:cNvCxnSpPr/>
          <p:nvPr/>
        </p:nvCxnSpPr>
        <p:spPr>
          <a:xfrm>
            <a:off x="2944368" y="2651760"/>
            <a:ext cx="292608" cy="0"/>
          </a:xfrm>
          <a:prstGeom prst="straightConnector1">
            <a:avLst/>
          </a:prstGeom>
          <a:noFill/>
          <a:ln cap="flat" cmpd="sng" w="19050">
            <a:solidFill>
              <a:srgbClr val="64748B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43" name="Google Shape;143;p18"/>
          <p:cNvCxnSpPr/>
          <p:nvPr/>
        </p:nvCxnSpPr>
        <p:spPr>
          <a:xfrm>
            <a:off x="5870448" y="2651760"/>
            <a:ext cx="292608" cy="0"/>
          </a:xfrm>
          <a:prstGeom prst="straightConnector1">
            <a:avLst/>
          </a:prstGeom>
          <a:noFill/>
          <a:ln cap="flat" cmpd="sng" w="19050">
            <a:solidFill>
              <a:srgbClr val="64748B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44" name="Google Shape;144;p18"/>
          <p:cNvSpPr/>
          <p:nvPr/>
        </p:nvSpPr>
        <p:spPr>
          <a:xfrm>
            <a:off x="2839275" y="2761426"/>
            <a:ext cx="5028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b="0" i="0" lang="fr" sz="8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git add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8"/>
          <p:cNvSpPr/>
          <p:nvPr/>
        </p:nvSpPr>
        <p:spPr>
          <a:xfrm>
            <a:off x="5651057" y="2761433"/>
            <a:ext cx="7314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b="0" i="0" lang="fr" sz="8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git commit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8"/>
          <p:cNvSpPr/>
          <p:nvPr/>
        </p:nvSpPr>
        <p:spPr>
          <a:xfrm>
            <a:off x="320040" y="3547872"/>
            <a:ext cx="8503920" cy="1051560"/>
          </a:xfrm>
          <a:prstGeom prst="rect">
            <a:avLst/>
          </a:prstGeom>
          <a:solidFill>
            <a:srgbClr val="F1F5F9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18"/>
          <p:cNvSpPr/>
          <p:nvPr/>
        </p:nvSpPr>
        <p:spPr>
          <a:xfrm>
            <a:off x="429768" y="3657600"/>
            <a:ext cx="100584" cy="100584"/>
          </a:xfrm>
          <a:prstGeom prst="ellipse">
            <a:avLst/>
          </a:prstGeom>
          <a:solidFill>
            <a:srgbClr val="FC615D"/>
          </a:solidFill>
          <a:ln cap="flat" cmpd="sng" w="12700">
            <a:solidFill>
              <a:srgbClr val="FC61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18"/>
          <p:cNvSpPr/>
          <p:nvPr/>
        </p:nvSpPr>
        <p:spPr>
          <a:xfrm>
            <a:off x="566928" y="3657600"/>
            <a:ext cx="100584" cy="100584"/>
          </a:xfrm>
          <a:prstGeom prst="ellipse">
            <a:avLst/>
          </a:prstGeom>
          <a:solidFill>
            <a:srgbClr val="FDBC2C"/>
          </a:solidFill>
          <a:ln cap="flat" cmpd="sng" w="12700">
            <a:solidFill>
              <a:srgbClr val="FDBC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18"/>
          <p:cNvSpPr/>
          <p:nvPr/>
        </p:nvSpPr>
        <p:spPr>
          <a:xfrm>
            <a:off x="704088" y="3657600"/>
            <a:ext cx="100584" cy="100584"/>
          </a:xfrm>
          <a:prstGeom prst="ellipse">
            <a:avLst/>
          </a:prstGeom>
          <a:solidFill>
            <a:srgbClr val="34C749"/>
          </a:solidFill>
          <a:ln cap="flat" cmpd="sng" w="12700">
            <a:solidFill>
              <a:srgbClr val="34C7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18"/>
          <p:cNvSpPr/>
          <p:nvPr/>
        </p:nvSpPr>
        <p:spPr>
          <a:xfrm>
            <a:off x="429768" y="3840480"/>
            <a:ext cx="8284464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onsolas"/>
              <a:buNone/>
            </a:pPr>
            <a:r>
              <a:rPr b="0" i="0" lang="fr" sz="1050" u="none" cap="none" strike="noStrike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git status            # voir dans quelle zone sont tes fichiers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onsolas"/>
              <a:buNone/>
            </a:pPr>
            <a:r>
              <a:rPr b="0" i="0" lang="fr" sz="1050" u="none" cap="none" strike="noStrike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git diff              # modifications non stagées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onsolas"/>
              <a:buNone/>
            </a:pPr>
            <a:r>
              <a:rPr b="0" i="0" lang="fr" sz="1050" u="none" cap="none" strike="noStrike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git add .             # tout stager d'un coup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8"/>
          <p:cNvSpPr/>
          <p:nvPr/>
        </p:nvSpPr>
        <p:spPr>
          <a:xfrm>
            <a:off x="365760" y="4736592"/>
            <a:ext cx="8412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1" lang="fr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📎 graphite.com/blog/understanding-git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9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19"/>
          <p:cNvSpPr/>
          <p:nvPr/>
        </p:nvSpPr>
        <p:spPr>
          <a:xfrm>
            <a:off x="274320" y="0"/>
            <a:ext cx="5486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BD4"/>
              </a:buClr>
              <a:buSzPts val="1000"/>
              <a:buFont typeface="Calibri"/>
              <a:buNone/>
            </a:pPr>
            <a:r>
              <a:rPr b="0" i="0" lang="fr" sz="1000" u="none" cap="none" strike="noStrike">
                <a:solidFill>
                  <a:srgbClr val="AABBD4"/>
                </a:solidFill>
                <a:latin typeface="Calibri"/>
                <a:ea typeface="Calibri"/>
                <a:cs typeface="Calibri"/>
                <a:sym typeface="Calibri"/>
              </a:rPr>
              <a:t>Introduction à Git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9"/>
          <p:cNvSpPr/>
          <p:nvPr/>
        </p:nvSpPr>
        <p:spPr>
          <a:xfrm>
            <a:off x="6949440" y="91440"/>
            <a:ext cx="1097280" cy="292608"/>
          </a:xfrm>
          <a:prstGeom prst="roundRect">
            <a:avLst>
              <a:gd fmla="val 15625" name="adj"/>
            </a:avLst>
          </a:prstGeom>
          <a:solidFill>
            <a:srgbClr val="DBEAFE"/>
          </a:solidFill>
          <a:ln cap="flat" cmpd="sng" w="12700">
            <a:solidFill>
              <a:srgbClr val="DBEA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19"/>
          <p:cNvSpPr/>
          <p:nvPr/>
        </p:nvSpPr>
        <p:spPr>
          <a:xfrm>
            <a:off x="6949440" y="91440"/>
            <a:ext cx="10972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900"/>
              <a:buFont typeface="Calibri"/>
              <a:buNone/>
            </a:pPr>
            <a:r>
              <a:rPr b="1" i="0" lang="fr" sz="90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CONCEPT CLÉ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9"/>
          <p:cNvSpPr/>
          <p:nvPr/>
        </p:nvSpPr>
        <p:spPr>
          <a:xfrm>
            <a:off x="365760" y="566928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1" i="0" lang="fr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BASES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9"/>
          <p:cNvSpPr/>
          <p:nvPr/>
        </p:nvSpPr>
        <p:spPr>
          <a:xfrm>
            <a:off x="365760" y="896112"/>
            <a:ext cx="84124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600"/>
              <a:buFont typeface="Calibri"/>
              <a:buNone/>
            </a:pPr>
            <a:r>
              <a:rPr b="1" i="0" lang="fr" sz="26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Branches — travailler sans risque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9"/>
          <p:cNvSpPr/>
          <p:nvPr/>
        </p:nvSpPr>
        <p:spPr>
          <a:xfrm>
            <a:off x="365760" y="1481328"/>
            <a:ext cx="84124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Calibri"/>
              <a:buNone/>
            </a:pPr>
            <a:r>
              <a:rPr b="0" i="1" lang="fr" sz="13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La vraie superpuissance de Git.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4" name="Google Shape;164;p19"/>
          <p:cNvCxnSpPr/>
          <p:nvPr/>
        </p:nvCxnSpPr>
        <p:spPr>
          <a:xfrm>
            <a:off x="640080" y="2331720"/>
            <a:ext cx="3246120" cy="0"/>
          </a:xfrm>
          <a:prstGeom prst="straightConnector1">
            <a:avLst/>
          </a:prstGeom>
          <a:noFill/>
          <a:ln cap="flat" cmpd="sng" w="254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5" name="Google Shape;165;p19"/>
          <p:cNvCxnSpPr/>
          <p:nvPr/>
        </p:nvCxnSpPr>
        <p:spPr>
          <a:xfrm>
            <a:off x="2651760" y="2331720"/>
            <a:ext cx="594360" cy="640080"/>
          </a:xfrm>
          <a:prstGeom prst="straightConnector1">
            <a:avLst/>
          </a:prstGeom>
          <a:noFill/>
          <a:ln cap="flat" cmpd="sng" w="25400">
            <a:solidFill>
              <a:srgbClr val="EA580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6" name="Google Shape;166;p19"/>
          <p:cNvCxnSpPr/>
          <p:nvPr/>
        </p:nvCxnSpPr>
        <p:spPr>
          <a:xfrm>
            <a:off x="3246120" y="3108960"/>
            <a:ext cx="914400" cy="0"/>
          </a:xfrm>
          <a:prstGeom prst="straightConnector1">
            <a:avLst/>
          </a:prstGeom>
          <a:noFill/>
          <a:ln cap="flat" cmpd="sng" w="25400">
            <a:solidFill>
              <a:srgbClr val="EA580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7" name="Google Shape;167;p19"/>
          <p:cNvSpPr/>
          <p:nvPr/>
        </p:nvSpPr>
        <p:spPr>
          <a:xfrm>
            <a:off x="502920" y="2194560"/>
            <a:ext cx="384048" cy="384048"/>
          </a:xfrm>
          <a:prstGeom prst="ellipse">
            <a:avLst/>
          </a:prstGeom>
          <a:solidFill>
            <a:srgbClr val="2563EB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19"/>
          <p:cNvSpPr/>
          <p:nvPr/>
        </p:nvSpPr>
        <p:spPr>
          <a:xfrm>
            <a:off x="502920" y="2194560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fr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9"/>
          <p:cNvSpPr/>
          <p:nvPr/>
        </p:nvSpPr>
        <p:spPr>
          <a:xfrm>
            <a:off x="1417320" y="2194560"/>
            <a:ext cx="384048" cy="384048"/>
          </a:xfrm>
          <a:prstGeom prst="ellipse">
            <a:avLst/>
          </a:prstGeom>
          <a:solidFill>
            <a:srgbClr val="2563EB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19"/>
          <p:cNvSpPr/>
          <p:nvPr/>
        </p:nvSpPr>
        <p:spPr>
          <a:xfrm>
            <a:off x="1417320" y="2194560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fr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9"/>
          <p:cNvSpPr/>
          <p:nvPr/>
        </p:nvSpPr>
        <p:spPr>
          <a:xfrm>
            <a:off x="2331720" y="2194560"/>
            <a:ext cx="384048" cy="384048"/>
          </a:xfrm>
          <a:prstGeom prst="ellipse">
            <a:avLst/>
          </a:prstGeom>
          <a:solidFill>
            <a:srgbClr val="2563EB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19"/>
          <p:cNvSpPr/>
          <p:nvPr/>
        </p:nvSpPr>
        <p:spPr>
          <a:xfrm>
            <a:off x="2331720" y="2194560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fr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9"/>
          <p:cNvSpPr/>
          <p:nvPr/>
        </p:nvSpPr>
        <p:spPr>
          <a:xfrm>
            <a:off x="3246120" y="2971800"/>
            <a:ext cx="384048" cy="384048"/>
          </a:xfrm>
          <a:prstGeom prst="ellipse">
            <a:avLst/>
          </a:prstGeom>
          <a:solidFill>
            <a:srgbClr val="EA580C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19"/>
          <p:cNvSpPr/>
          <p:nvPr/>
        </p:nvSpPr>
        <p:spPr>
          <a:xfrm>
            <a:off x="3246120" y="2971800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fr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9"/>
          <p:cNvSpPr/>
          <p:nvPr/>
        </p:nvSpPr>
        <p:spPr>
          <a:xfrm>
            <a:off x="4160520" y="2971800"/>
            <a:ext cx="384048" cy="384048"/>
          </a:xfrm>
          <a:prstGeom prst="ellipse">
            <a:avLst/>
          </a:prstGeom>
          <a:solidFill>
            <a:srgbClr val="EA580C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19"/>
          <p:cNvSpPr/>
          <p:nvPr/>
        </p:nvSpPr>
        <p:spPr>
          <a:xfrm>
            <a:off x="4160520" y="2971800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fr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9"/>
          <p:cNvSpPr/>
          <p:nvPr/>
        </p:nvSpPr>
        <p:spPr>
          <a:xfrm>
            <a:off x="502920" y="1920240"/>
            <a:ext cx="10972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000"/>
              <a:buFont typeface="Calibri"/>
              <a:buNone/>
            </a:pPr>
            <a:r>
              <a:rPr b="1" i="0" lang="fr" sz="100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main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9"/>
          <p:cNvSpPr/>
          <p:nvPr/>
        </p:nvSpPr>
        <p:spPr>
          <a:xfrm>
            <a:off x="3154680" y="2633472"/>
            <a:ext cx="1371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580C"/>
              </a:buClr>
              <a:buSzPts val="1000"/>
              <a:buFont typeface="Calibri"/>
              <a:buNone/>
            </a:pPr>
            <a:r>
              <a:rPr b="1" i="0" lang="fr" sz="1000" u="none" cap="none" strike="noStrike">
                <a:solidFill>
                  <a:srgbClr val="EA580C"/>
                </a:solidFill>
                <a:latin typeface="Calibri"/>
                <a:ea typeface="Calibri"/>
                <a:cs typeface="Calibri"/>
                <a:sym typeface="Calibri"/>
              </a:rPr>
              <a:t>feature/login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9"/>
          <p:cNvSpPr/>
          <p:nvPr/>
        </p:nvSpPr>
        <p:spPr>
          <a:xfrm>
            <a:off x="4663440" y="1874520"/>
            <a:ext cx="411480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50"/>
              <a:buFont typeface="Calibri"/>
              <a:buChar char="•"/>
            </a:pPr>
            <a:r>
              <a:rPr b="0" i="0" lang="fr" sz="12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main = branche principale, toujours stable et déployable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E293B"/>
              </a:buClr>
              <a:buSzPts val="1250"/>
              <a:buFont typeface="Calibri"/>
              <a:buChar char="•"/>
            </a:pPr>
            <a:r>
              <a:rPr b="0" i="0" lang="fr" sz="12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Chaque feature dans sa propre branche → aucun risque pour le projet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E293B"/>
              </a:buClr>
              <a:buSzPts val="1250"/>
              <a:buFont typeface="Calibri"/>
              <a:buChar char="•"/>
            </a:pPr>
            <a:r>
              <a:rPr b="0" i="0" lang="fr" sz="12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Le noyau Linux gère des milliers de branches en parallèle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9"/>
          <p:cNvSpPr/>
          <p:nvPr/>
        </p:nvSpPr>
        <p:spPr>
          <a:xfrm>
            <a:off x="365760" y="3703320"/>
            <a:ext cx="8412480" cy="1005840"/>
          </a:xfrm>
          <a:prstGeom prst="rect">
            <a:avLst/>
          </a:prstGeom>
          <a:solidFill>
            <a:srgbClr val="F1F5F9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19"/>
          <p:cNvSpPr/>
          <p:nvPr/>
        </p:nvSpPr>
        <p:spPr>
          <a:xfrm>
            <a:off x="475488" y="3813048"/>
            <a:ext cx="100584" cy="100584"/>
          </a:xfrm>
          <a:prstGeom prst="ellipse">
            <a:avLst/>
          </a:prstGeom>
          <a:solidFill>
            <a:srgbClr val="FC615D"/>
          </a:solidFill>
          <a:ln cap="flat" cmpd="sng" w="12700">
            <a:solidFill>
              <a:srgbClr val="FC61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19"/>
          <p:cNvSpPr/>
          <p:nvPr/>
        </p:nvSpPr>
        <p:spPr>
          <a:xfrm>
            <a:off x="612648" y="3813048"/>
            <a:ext cx="100584" cy="100584"/>
          </a:xfrm>
          <a:prstGeom prst="ellipse">
            <a:avLst/>
          </a:prstGeom>
          <a:solidFill>
            <a:srgbClr val="FDBC2C"/>
          </a:solidFill>
          <a:ln cap="flat" cmpd="sng" w="12700">
            <a:solidFill>
              <a:srgbClr val="FDBC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19"/>
          <p:cNvSpPr/>
          <p:nvPr/>
        </p:nvSpPr>
        <p:spPr>
          <a:xfrm>
            <a:off x="749808" y="3813048"/>
            <a:ext cx="100584" cy="100584"/>
          </a:xfrm>
          <a:prstGeom prst="ellipse">
            <a:avLst/>
          </a:prstGeom>
          <a:solidFill>
            <a:srgbClr val="34C749"/>
          </a:solidFill>
          <a:ln cap="flat" cmpd="sng" w="12700">
            <a:solidFill>
              <a:srgbClr val="34C7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19"/>
          <p:cNvSpPr/>
          <p:nvPr/>
        </p:nvSpPr>
        <p:spPr>
          <a:xfrm>
            <a:off x="475488" y="3995928"/>
            <a:ext cx="8193024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onsolas"/>
              <a:buNone/>
            </a:pPr>
            <a:r>
              <a:rPr b="0" i="0" lang="fr" sz="1050" u="none" cap="none" strike="noStrike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git checkout -b feature/login  # créer + basculer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onsolas"/>
              <a:buNone/>
            </a:pPr>
            <a:r>
              <a:rPr b="0" i="0" lang="fr" sz="1050" u="none" cap="none" strike="noStrike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git branch                      # lister les branches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onsolas"/>
              <a:buNone/>
            </a:pPr>
            <a:r>
              <a:rPr b="0" i="0" lang="fr" sz="1050" u="none" cap="none" strike="noStrike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git checkout main               # revenir sur main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9"/>
          <p:cNvSpPr/>
          <p:nvPr/>
        </p:nvSpPr>
        <p:spPr>
          <a:xfrm>
            <a:off x="365760" y="4736592"/>
            <a:ext cx="8412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1" lang="fr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📎 git-scm.com/book ch. 3 — Git Branching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20"/>
          <p:cNvSpPr/>
          <p:nvPr/>
        </p:nvSpPr>
        <p:spPr>
          <a:xfrm>
            <a:off x="274320" y="0"/>
            <a:ext cx="5486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BD4"/>
              </a:buClr>
              <a:buSzPts val="1000"/>
              <a:buFont typeface="Calibri"/>
              <a:buNone/>
            </a:pPr>
            <a:r>
              <a:rPr b="0" i="0" lang="fr" sz="1000" u="none" cap="none" strike="noStrike">
                <a:solidFill>
                  <a:srgbClr val="AABBD4"/>
                </a:solidFill>
                <a:latin typeface="Calibri"/>
                <a:ea typeface="Calibri"/>
                <a:cs typeface="Calibri"/>
                <a:sym typeface="Calibri"/>
              </a:rPr>
              <a:t>Introduction à Git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20"/>
          <p:cNvSpPr/>
          <p:nvPr/>
        </p:nvSpPr>
        <p:spPr>
          <a:xfrm>
            <a:off x="6949440" y="91440"/>
            <a:ext cx="1097280" cy="292608"/>
          </a:xfrm>
          <a:prstGeom prst="roundRect">
            <a:avLst>
              <a:gd fmla="val 15625" name="adj"/>
            </a:avLst>
          </a:prstGeom>
          <a:solidFill>
            <a:srgbClr val="FFEDD5"/>
          </a:solidFill>
          <a:ln cap="flat" cmpd="sng" w="12700">
            <a:solidFill>
              <a:srgbClr val="FFED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20"/>
          <p:cNvSpPr/>
          <p:nvPr/>
        </p:nvSpPr>
        <p:spPr>
          <a:xfrm>
            <a:off x="6949440" y="91440"/>
            <a:ext cx="10972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A580C"/>
              </a:buClr>
              <a:buSzPts val="900"/>
              <a:buFont typeface="Calibri"/>
              <a:buNone/>
            </a:pPr>
            <a:r>
              <a:rPr b="1" i="0" lang="fr" sz="900" u="none" cap="none" strike="noStrike">
                <a:solidFill>
                  <a:srgbClr val="EA580C"/>
                </a:solidFill>
                <a:latin typeface="Calibri"/>
                <a:ea typeface="Calibri"/>
                <a:cs typeface="Calibri"/>
                <a:sym typeface="Calibri"/>
              </a:rPr>
              <a:t>DÉMO LIVE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20"/>
          <p:cNvSpPr/>
          <p:nvPr/>
        </p:nvSpPr>
        <p:spPr>
          <a:xfrm>
            <a:off x="365760" y="566928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1" i="0" lang="fr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BASES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20"/>
          <p:cNvSpPr/>
          <p:nvPr/>
        </p:nvSpPr>
        <p:spPr>
          <a:xfrm>
            <a:off x="365760" y="896112"/>
            <a:ext cx="84124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600"/>
              <a:buFont typeface="Calibri"/>
              <a:buNone/>
            </a:pPr>
            <a:r>
              <a:rPr b="1" i="0" lang="fr" sz="26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Merge &amp; résolution de conflits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20"/>
          <p:cNvSpPr/>
          <p:nvPr/>
        </p:nvSpPr>
        <p:spPr>
          <a:xfrm>
            <a:off x="365760" y="1481328"/>
            <a:ext cx="84124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Calibri"/>
              <a:buNone/>
            </a:pPr>
            <a:r>
              <a:rPr b="0" i="1" lang="fr" sz="13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Ce qui fait peur aux novices — mais c'est gérable.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20"/>
          <p:cNvSpPr/>
          <p:nvPr/>
        </p:nvSpPr>
        <p:spPr>
          <a:xfrm>
            <a:off x="365760" y="1901952"/>
            <a:ext cx="3931920" cy="1691640"/>
          </a:xfrm>
          <a:prstGeom prst="rect">
            <a:avLst/>
          </a:prstGeom>
          <a:solidFill>
            <a:srgbClr val="FFEDD5"/>
          </a:solidFill>
          <a:ln cap="flat" cmpd="sng" w="12700">
            <a:solidFill>
              <a:srgbClr val="EA580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20"/>
          <p:cNvSpPr/>
          <p:nvPr/>
        </p:nvSpPr>
        <p:spPr>
          <a:xfrm>
            <a:off x="548640" y="1965960"/>
            <a:ext cx="35661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580C"/>
              </a:buClr>
              <a:buSzPts val="1200"/>
              <a:buFont typeface="Calibri"/>
              <a:buNone/>
            </a:pPr>
            <a:r>
              <a:rPr b="1" i="0" lang="fr" sz="1200" u="none" cap="none" strike="noStrike">
                <a:solidFill>
                  <a:srgbClr val="EA580C"/>
                </a:solidFill>
                <a:latin typeface="Calibri"/>
                <a:ea typeface="Calibri"/>
                <a:cs typeface="Calibri"/>
                <a:sym typeface="Calibri"/>
              </a:rPr>
              <a:t>⚠️ Fichier en conflit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20"/>
          <p:cNvSpPr/>
          <p:nvPr/>
        </p:nvSpPr>
        <p:spPr>
          <a:xfrm>
            <a:off x="548640" y="2304288"/>
            <a:ext cx="356616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onsolas"/>
              <a:buNone/>
            </a:pPr>
            <a:r>
              <a:rPr b="0" i="0" lang="fr" sz="950" u="none" cap="none" strike="noStrike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&lt;&lt;&lt;&lt;&lt;&lt;&lt; HEAD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onsolas"/>
              <a:buNone/>
            </a:pPr>
            <a:r>
              <a:rPr b="0" i="0" lang="fr" sz="950" u="none" cap="none" strike="noStrike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ton code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onsolas"/>
              <a:buNone/>
            </a:pPr>
            <a:r>
              <a:rPr b="0" i="0" lang="fr" sz="950" u="none" cap="none" strike="noStrike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=======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onsolas"/>
              <a:buNone/>
            </a:pPr>
            <a:r>
              <a:rPr b="0" i="0" lang="fr" sz="950" u="none" cap="none" strike="noStrike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code de l'autre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onsolas"/>
              <a:buNone/>
            </a:pPr>
            <a:r>
              <a:rPr b="0" i="0" lang="fr" sz="950" u="none" cap="none" strike="noStrike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&gt;&gt;&gt;&gt;&gt;&gt;&gt; feature/login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20"/>
          <p:cNvSpPr/>
          <p:nvPr/>
        </p:nvSpPr>
        <p:spPr>
          <a:xfrm>
            <a:off x="4572000" y="1901952"/>
            <a:ext cx="320040" cy="320040"/>
          </a:xfrm>
          <a:prstGeom prst="ellipse">
            <a:avLst/>
          </a:prstGeom>
          <a:solidFill>
            <a:srgbClr val="16A34A"/>
          </a:solidFill>
          <a:ln cap="flat" cmpd="sng" w="12700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20"/>
          <p:cNvSpPr/>
          <p:nvPr/>
        </p:nvSpPr>
        <p:spPr>
          <a:xfrm>
            <a:off x="4572000" y="1901952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fr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20"/>
          <p:cNvSpPr/>
          <p:nvPr/>
        </p:nvSpPr>
        <p:spPr>
          <a:xfrm>
            <a:off x="4983480" y="1920240"/>
            <a:ext cx="3749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50"/>
              <a:buFont typeface="Calibri"/>
              <a:buNone/>
            </a:pPr>
            <a:r>
              <a:rPr b="0" i="0" lang="fr" sz="11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Ouvrir le fichier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20"/>
          <p:cNvSpPr/>
          <p:nvPr/>
        </p:nvSpPr>
        <p:spPr>
          <a:xfrm>
            <a:off x="4572000" y="2331720"/>
            <a:ext cx="320040" cy="320040"/>
          </a:xfrm>
          <a:prstGeom prst="ellipse">
            <a:avLst/>
          </a:prstGeom>
          <a:solidFill>
            <a:srgbClr val="16A34A"/>
          </a:solidFill>
          <a:ln cap="flat" cmpd="sng" w="12700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20"/>
          <p:cNvSpPr/>
          <p:nvPr/>
        </p:nvSpPr>
        <p:spPr>
          <a:xfrm>
            <a:off x="4572000" y="2331720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fr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20"/>
          <p:cNvSpPr/>
          <p:nvPr/>
        </p:nvSpPr>
        <p:spPr>
          <a:xfrm>
            <a:off x="4983480" y="2350008"/>
            <a:ext cx="3749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50"/>
              <a:buFont typeface="Calibri"/>
              <a:buNone/>
            </a:pPr>
            <a:r>
              <a:rPr b="0" i="0" lang="fr" sz="11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Choisir le bon code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20"/>
          <p:cNvSpPr/>
          <p:nvPr/>
        </p:nvSpPr>
        <p:spPr>
          <a:xfrm>
            <a:off x="4572000" y="2761488"/>
            <a:ext cx="320040" cy="320040"/>
          </a:xfrm>
          <a:prstGeom prst="ellipse">
            <a:avLst/>
          </a:prstGeom>
          <a:solidFill>
            <a:srgbClr val="16A34A"/>
          </a:solidFill>
          <a:ln cap="flat" cmpd="sng" w="12700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20"/>
          <p:cNvSpPr/>
          <p:nvPr/>
        </p:nvSpPr>
        <p:spPr>
          <a:xfrm>
            <a:off x="4572000" y="2761488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fr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20"/>
          <p:cNvSpPr/>
          <p:nvPr/>
        </p:nvSpPr>
        <p:spPr>
          <a:xfrm>
            <a:off x="4983480" y="2779776"/>
            <a:ext cx="3749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50"/>
              <a:buFont typeface="Calibri"/>
              <a:buNone/>
            </a:pPr>
            <a:r>
              <a:rPr b="0" i="0" lang="fr" sz="11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Supprimer les marqueurs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20"/>
          <p:cNvSpPr/>
          <p:nvPr/>
        </p:nvSpPr>
        <p:spPr>
          <a:xfrm>
            <a:off x="4572000" y="3191256"/>
            <a:ext cx="320040" cy="320040"/>
          </a:xfrm>
          <a:prstGeom prst="ellipse">
            <a:avLst/>
          </a:prstGeom>
          <a:solidFill>
            <a:srgbClr val="16A34A"/>
          </a:solidFill>
          <a:ln cap="flat" cmpd="sng" w="12700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20"/>
          <p:cNvSpPr/>
          <p:nvPr/>
        </p:nvSpPr>
        <p:spPr>
          <a:xfrm>
            <a:off x="4572000" y="3191256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fr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20"/>
          <p:cNvSpPr/>
          <p:nvPr/>
        </p:nvSpPr>
        <p:spPr>
          <a:xfrm>
            <a:off x="4983480" y="3209544"/>
            <a:ext cx="3749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50"/>
              <a:buFont typeface="Calibri"/>
              <a:buNone/>
            </a:pPr>
            <a:r>
              <a:rPr b="0" i="0" lang="fr" sz="11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git add + git commit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20"/>
          <p:cNvSpPr/>
          <p:nvPr/>
        </p:nvSpPr>
        <p:spPr>
          <a:xfrm>
            <a:off x="365760" y="3675888"/>
            <a:ext cx="8412480" cy="1051560"/>
          </a:xfrm>
          <a:prstGeom prst="rect">
            <a:avLst/>
          </a:prstGeom>
          <a:solidFill>
            <a:srgbClr val="F1F5F9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20"/>
          <p:cNvSpPr/>
          <p:nvPr/>
        </p:nvSpPr>
        <p:spPr>
          <a:xfrm>
            <a:off x="475488" y="3785616"/>
            <a:ext cx="100584" cy="100584"/>
          </a:xfrm>
          <a:prstGeom prst="ellipse">
            <a:avLst/>
          </a:prstGeom>
          <a:solidFill>
            <a:srgbClr val="FC615D"/>
          </a:solidFill>
          <a:ln cap="flat" cmpd="sng" w="12700">
            <a:solidFill>
              <a:srgbClr val="FC61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20"/>
          <p:cNvSpPr/>
          <p:nvPr/>
        </p:nvSpPr>
        <p:spPr>
          <a:xfrm>
            <a:off x="612648" y="3785616"/>
            <a:ext cx="100584" cy="100584"/>
          </a:xfrm>
          <a:prstGeom prst="ellipse">
            <a:avLst/>
          </a:prstGeom>
          <a:solidFill>
            <a:srgbClr val="FDBC2C"/>
          </a:solidFill>
          <a:ln cap="flat" cmpd="sng" w="12700">
            <a:solidFill>
              <a:srgbClr val="FDBC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20"/>
          <p:cNvSpPr/>
          <p:nvPr/>
        </p:nvSpPr>
        <p:spPr>
          <a:xfrm>
            <a:off x="749808" y="3785616"/>
            <a:ext cx="100584" cy="100584"/>
          </a:xfrm>
          <a:prstGeom prst="ellipse">
            <a:avLst/>
          </a:prstGeom>
          <a:solidFill>
            <a:srgbClr val="34C749"/>
          </a:solidFill>
          <a:ln cap="flat" cmpd="sng" w="12700">
            <a:solidFill>
              <a:srgbClr val="34C7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20"/>
          <p:cNvSpPr/>
          <p:nvPr/>
        </p:nvSpPr>
        <p:spPr>
          <a:xfrm>
            <a:off x="475488" y="3968496"/>
            <a:ext cx="8193024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onsolas"/>
              <a:buNone/>
            </a:pPr>
            <a:r>
              <a:rPr b="0" i="0" lang="fr" sz="1050" u="none" cap="none" strike="noStrike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git merge feature/login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onsolas"/>
              <a:buNone/>
            </a:pPr>
            <a:r>
              <a:rPr b="0" i="0" lang="fr" sz="1050" u="none" cap="none" strike="noStrike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# Résolution : éditer le fichier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onsolas"/>
              <a:buNone/>
            </a:pPr>
            <a:r>
              <a:rPr b="0" i="0" lang="fr" sz="1050" u="none" cap="none" strike="noStrike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git add fichier_conflit.txt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onsolas"/>
              <a:buNone/>
            </a:pPr>
            <a:r>
              <a:rPr b="0" i="0" lang="fr" sz="1050" u="none" cap="none" strike="noStrike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git commit   # Git génère un message automatique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20"/>
          <p:cNvSpPr/>
          <p:nvPr/>
        </p:nvSpPr>
        <p:spPr>
          <a:xfrm>
            <a:off x="365760" y="4736592"/>
            <a:ext cx="8412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1" lang="fr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📎 git-scm.com/book ch. 3.2 — Basic Merging and Merge Conflicts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21"/>
          <p:cNvSpPr/>
          <p:nvPr/>
        </p:nvSpPr>
        <p:spPr>
          <a:xfrm>
            <a:off x="274320" y="0"/>
            <a:ext cx="5486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BD4"/>
              </a:buClr>
              <a:buSzPts val="1000"/>
              <a:buFont typeface="Calibri"/>
              <a:buNone/>
            </a:pPr>
            <a:r>
              <a:rPr b="0" i="0" lang="fr" sz="1000" u="none" cap="none" strike="noStrike">
                <a:solidFill>
                  <a:srgbClr val="AABBD4"/>
                </a:solidFill>
                <a:latin typeface="Calibri"/>
                <a:ea typeface="Calibri"/>
                <a:cs typeface="Calibri"/>
                <a:sym typeface="Calibri"/>
              </a:rPr>
              <a:t>Introduction à Git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21"/>
          <p:cNvSpPr/>
          <p:nvPr/>
        </p:nvSpPr>
        <p:spPr>
          <a:xfrm>
            <a:off x="6949440" y="91440"/>
            <a:ext cx="1097280" cy="292608"/>
          </a:xfrm>
          <a:prstGeom prst="roundRect">
            <a:avLst>
              <a:gd fmla="val 15625" name="adj"/>
            </a:avLst>
          </a:prstGeom>
          <a:solidFill>
            <a:srgbClr val="DBEAFE"/>
          </a:solidFill>
          <a:ln cap="flat" cmpd="sng" w="12700">
            <a:solidFill>
              <a:srgbClr val="DBEA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21"/>
          <p:cNvSpPr/>
          <p:nvPr/>
        </p:nvSpPr>
        <p:spPr>
          <a:xfrm>
            <a:off x="6949440" y="91440"/>
            <a:ext cx="10972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900"/>
              <a:buFont typeface="Calibri"/>
              <a:buNone/>
            </a:pPr>
            <a:r>
              <a:rPr b="1" i="0" lang="fr" sz="90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GITHUB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21"/>
          <p:cNvSpPr/>
          <p:nvPr/>
        </p:nvSpPr>
        <p:spPr>
          <a:xfrm>
            <a:off x="365760" y="566928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1" i="0" lang="fr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COLLABORATION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21"/>
          <p:cNvSpPr/>
          <p:nvPr/>
        </p:nvSpPr>
        <p:spPr>
          <a:xfrm>
            <a:off x="365760" y="896112"/>
            <a:ext cx="84124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600"/>
              <a:buFont typeface="Calibri"/>
              <a:buNone/>
            </a:pPr>
            <a:r>
              <a:rPr b="1" i="0" lang="fr" sz="26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GitHub — Git dans le cloud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21"/>
          <p:cNvSpPr/>
          <p:nvPr/>
        </p:nvSpPr>
        <p:spPr>
          <a:xfrm>
            <a:off x="365760" y="1481328"/>
            <a:ext cx="84124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Calibri"/>
              <a:buNone/>
            </a:pPr>
            <a:r>
              <a:rPr b="0" i="1" lang="fr" sz="13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Git ≠ GitHub.   Git est local.   GitHub est la plateforme en ligne.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21"/>
          <p:cNvSpPr/>
          <p:nvPr/>
        </p:nvSpPr>
        <p:spPr>
          <a:xfrm>
            <a:off x="365760" y="1874520"/>
            <a:ext cx="4114800" cy="2514600"/>
          </a:xfrm>
          <a:prstGeom prst="rect">
            <a:avLst/>
          </a:prstGeom>
          <a:solidFill>
            <a:srgbClr val="F1F5F9"/>
          </a:solidFill>
          <a:ln cap="flat" cmpd="sng" w="12700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21"/>
          <p:cNvSpPr/>
          <p:nvPr/>
        </p:nvSpPr>
        <p:spPr>
          <a:xfrm>
            <a:off x="502920" y="1938528"/>
            <a:ext cx="384048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500"/>
              <a:buFont typeface="Calibri"/>
              <a:buNone/>
            </a:pPr>
            <a:r>
              <a:rPr b="1" i="0" lang="fr" sz="15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⚙️  Git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21"/>
          <p:cNvSpPr/>
          <p:nvPr/>
        </p:nvSpPr>
        <p:spPr>
          <a:xfrm>
            <a:off x="502920" y="2423160"/>
            <a:ext cx="37490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50"/>
              <a:buFont typeface="Calibri"/>
              <a:buNone/>
            </a:pPr>
            <a:r>
              <a:rPr b="0" i="0" lang="fr" sz="11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→  Local, sur ta machine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21"/>
          <p:cNvSpPr/>
          <p:nvPr/>
        </p:nvSpPr>
        <p:spPr>
          <a:xfrm>
            <a:off x="502920" y="2862072"/>
            <a:ext cx="37490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50"/>
              <a:buFont typeface="Calibri"/>
              <a:buNone/>
            </a:pPr>
            <a:r>
              <a:rPr b="0" i="0" lang="fr" sz="11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→  Aucune connexion requise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21"/>
          <p:cNvSpPr/>
          <p:nvPr/>
        </p:nvSpPr>
        <p:spPr>
          <a:xfrm>
            <a:off x="502920" y="3300984"/>
            <a:ext cx="37490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50"/>
              <a:buFont typeface="Calibri"/>
              <a:buNone/>
            </a:pPr>
            <a:r>
              <a:rPr b="0" i="0" lang="fr" sz="11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→  Ligne de commande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21"/>
          <p:cNvSpPr/>
          <p:nvPr/>
        </p:nvSpPr>
        <p:spPr>
          <a:xfrm>
            <a:off x="502920" y="3739896"/>
            <a:ext cx="37490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50"/>
              <a:buFont typeface="Calibri"/>
              <a:buNone/>
            </a:pPr>
            <a:r>
              <a:rPr b="0" i="0" lang="fr" sz="11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→  Historique + branches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21"/>
          <p:cNvSpPr/>
          <p:nvPr/>
        </p:nvSpPr>
        <p:spPr>
          <a:xfrm>
            <a:off x="4663440" y="1874520"/>
            <a:ext cx="4114800" cy="2514600"/>
          </a:xfrm>
          <a:prstGeom prst="rect">
            <a:avLst/>
          </a:prstGeom>
          <a:solidFill>
            <a:srgbClr val="DBEAFE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21"/>
          <p:cNvSpPr/>
          <p:nvPr/>
        </p:nvSpPr>
        <p:spPr>
          <a:xfrm>
            <a:off x="4800600" y="1938528"/>
            <a:ext cx="384048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500"/>
              <a:buFont typeface="Calibri"/>
              <a:buNone/>
            </a:pPr>
            <a:r>
              <a:rPr b="1" i="0" lang="fr" sz="150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🌐  GitHub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21"/>
          <p:cNvSpPr/>
          <p:nvPr/>
        </p:nvSpPr>
        <p:spPr>
          <a:xfrm>
            <a:off x="4800600" y="2423160"/>
            <a:ext cx="37490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50"/>
              <a:buFont typeface="Calibri"/>
              <a:buNone/>
            </a:pPr>
            <a:r>
              <a:rPr b="0" i="0" lang="fr" sz="11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→  Hébergement en ligne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21"/>
          <p:cNvSpPr/>
          <p:nvPr/>
        </p:nvSpPr>
        <p:spPr>
          <a:xfrm>
            <a:off x="4800600" y="2862072"/>
            <a:ext cx="37490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50"/>
              <a:buFont typeface="Calibri"/>
              <a:buNone/>
            </a:pPr>
            <a:r>
              <a:rPr b="0" i="0" lang="fr" sz="11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→  Interface web + PR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21"/>
          <p:cNvSpPr/>
          <p:nvPr/>
        </p:nvSpPr>
        <p:spPr>
          <a:xfrm>
            <a:off x="4800600" y="3300984"/>
            <a:ext cx="37490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50"/>
              <a:buFont typeface="Calibri"/>
              <a:buNone/>
            </a:pPr>
            <a:r>
              <a:rPr b="0" i="0" lang="fr" sz="11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→  Revue de code collaborative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21"/>
          <p:cNvSpPr/>
          <p:nvPr/>
        </p:nvSpPr>
        <p:spPr>
          <a:xfrm>
            <a:off x="4800600" y="3739896"/>
            <a:ext cx="37490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50"/>
              <a:buFont typeface="Calibri"/>
              <a:buNone/>
            </a:pPr>
            <a:r>
              <a:rPr b="0" i="0" lang="fr" sz="11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→  CI/CD, Issues, Wiki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21"/>
          <p:cNvSpPr/>
          <p:nvPr/>
        </p:nvSpPr>
        <p:spPr>
          <a:xfrm>
            <a:off x="365760" y="4462272"/>
            <a:ext cx="8412480" cy="868680"/>
          </a:xfrm>
          <a:prstGeom prst="rect">
            <a:avLst/>
          </a:prstGeom>
          <a:solidFill>
            <a:srgbClr val="F1F5F9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21"/>
          <p:cNvSpPr/>
          <p:nvPr/>
        </p:nvSpPr>
        <p:spPr>
          <a:xfrm>
            <a:off x="475488" y="4572000"/>
            <a:ext cx="100584" cy="100584"/>
          </a:xfrm>
          <a:prstGeom prst="ellipse">
            <a:avLst/>
          </a:prstGeom>
          <a:solidFill>
            <a:srgbClr val="FC615D"/>
          </a:solidFill>
          <a:ln cap="flat" cmpd="sng" w="12700">
            <a:solidFill>
              <a:srgbClr val="FC61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21"/>
          <p:cNvSpPr/>
          <p:nvPr/>
        </p:nvSpPr>
        <p:spPr>
          <a:xfrm>
            <a:off x="612648" y="4572000"/>
            <a:ext cx="100584" cy="100584"/>
          </a:xfrm>
          <a:prstGeom prst="ellipse">
            <a:avLst/>
          </a:prstGeom>
          <a:solidFill>
            <a:srgbClr val="FDBC2C"/>
          </a:solidFill>
          <a:ln cap="flat" cmpd="sng" w="12700">
            <a:solidFill>
              <a:srgbClr val="FDBC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21"/>
          <p:cNvSpPr/>
          <p:nvPr/>
        </p:nvSpPr>
        <p:spPr>
          <a:xfrm>
            <a:off x="749808" y="4572000"/>
            <a:ext cx="100584" cy="100584"/>
          </a:xfrm>
          <a:prstGeom prst="ellipse">
            <a:avLst/>
          </a:prstGeom>
          <a:solidFill>
            <a:srgbClr val="34C749"/>
          </a:solidFill>
          <a:ln cap="flat" cmpd="sng" w="12700">
            <a:solidFill>
              <a:srgbClr val="34C7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21"/>
          <p:cNvSpPr/>
          <p:nvPr/>
        </p:nvSpPr>
        <p:spPr>
          <a:xfrm>
            <a:off x="475488" y="4754880"/>
            <a:ext cx="8193024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onsolas"/>
              <a:buNone/>
            </a:pPr>
            <a:r>
              <a:rPr b="0" i="0" lang="fr" sz="1050" u="none" cap="none" strike="noStrike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git remote add origin https://github.com/user/repo.git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onsolas"/>
              <a:buNone/>
            </a:pPr>
            <a:r>
              <a:rPr b="0" i="0" lang="fr" sz="1050" u="none" cap="none" strike="noStrike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git push origin main      # envoyer ses commits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onsolas"/>
              <a:buNone/>
            </a:pPr>
            <a:r>
              <a:rPr b="0" i="0" lang="fr" sz="1050" u="none" cap="none" strike="noStrike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git pull origin main      # récupérer les commits des autres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21"/>
          <p:cNvSpPr/>
          <p:nvPr/>
        </p:nvSpPr>
        <p:spPr>
          <a:xfrm>
            <a:off x="365760" y="4736592"/>
            <a:ext cx="8412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1" lang="fr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📎 welcometothejungle.com — History of Git · github.blog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22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22"/>
          <p:cNvSpPr/>
          <p:nvPr/>
        </p:nvSpPr>
        <p:spPr>
          <a:xfrm>
            <a:off x="274320" y="0"/>
            <a:ext cx="5486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BD4"/>
              </a:buClr>
              <a:buSzPts val="1000"/>
              <a:buFont typeface="Calibri"/>
              <a:buNone/>
            </a:pPr>
            <a:r>
              <a:rPr b="0" i="0" lang="fr" sz="1000" u="none" cap="none" strike="noStrike">
                <a:solidFill>
                  <a:srgbClr val="AABBD4"/>
                </a:solidFill>
                <a:latin typeface="Calibri"/>
                <a:ea typeface="Calibri"/>
                <a:cs typeface="Calibri"/>
                <a:sym typeface="Calibri"/>
              </a:rPr>
              <a:t>Introduction à Git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22"/>
          <p:cNvSpPr/>
          <p:nvPr/>
        </p:nvSpPr>
        <p:spPr>
          <a:xfrm>
            <a:off x="6949440" y="91440"/>
            <a:ext cx="1097280" cy="292608"/>
          </a:xfrm>
          <a:prstGeom prst="roundRect">
            <a:avLst>
              <a:gd fmla="val 15625" name="adj"/>
            </a:avLst>
          </a:prstGeom>
          <a:solidFill>
            <a:srgbClr val="FFEDD5"/>
          </a:solidFill>
          <a:ln cap="flat" cmpd="sng" w="12700">
            <a:solidFill>
              <a:srgbClr val="FFED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22"/>
          <p:cNvSpPr/>
          <p:nvPr/>
        </p:nvSpPr>
        <p:spPr>
          <a:xfrm>
            <a:off x="6949440" y="91440"/>
            <a:ext cx="10972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A580C"/>
              </a:buClr>
              <a:buSzPts val="900"/>
              <a:buFont typeface="Calibri"/>
              <a:buNone/>
            </a:pPr>
            <a:r>
              <a:rPr b="1" i="0" lang="fr" sz="900" u="none" cap="none" strike="noStrike">
                <a:solidFill>
                  <a:srgbClr val="EA580C"/>
                </a:solidFill>
                <a:latin typeface="Calibri"/>
                <a:ea typeface="Calibri"/>
                <a:cs typeface="Calibri"/>
                <a:sym typeface="Calibri"/>
              </a:rPr>
              <a:t>DÉMO LIVE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22"/>
          <p:cNvSpPr/>
          <p:nvPr/>
        </p:nvSpPr>
        <p:spPr>
          <a:xfrm>
            <a:off x="365760" y="566928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1" i="0" lang="fr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COLLABORATION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22"/>
          <p:cNvSpPr/>
          <p:nvPr/>
        </p:nvSpPr>
        <p:spPr>
          <a:xfrm>
            <a:off x="365760" y="896112"/>
            <a:ext cx="84124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600"/>
              <a:buFont typeface="Calibri"/>
              <a:buNone/>
            </a:pPr>
            <a:r>
              <a:rPr b="1" i="0" lang="fr" sz="26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Pull Request — le cœur de la collaboration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22"/>
          <p:cNvSpPr/>
          <p:nvPr/>
        </p:nvSpPr>
        <p:spPr>
          <a:xfrm>
            <a:off x="365760" y="1481328"/>
            <a:ext cx="84124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Calibri"/>
              <a:buNone/>
            </a:pPr>
            <a:r>
              <a:rPr b="0" i="1" lang="fr" sz="13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PR = demande officielle de merger une branche dans main, avec revue de code.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22"/>
          <p:cNvSpPr/>
          <p:nvPr/>
        </p:nvSpPr>
        <p:spPr>
          <a:xfrm>
            <a:off x="320040" y="1901952"/>
            <a:ext cx="1298448" cy="13716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22"/>
          <p:cNvSpPr/>
          <p:nvPr/>
        </p:nvSpPr>
        <p:spPr>
          <a:xfrm>
            <a:off x="320040" y="1938528"/>
            <a:ext cx="1298448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fr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🍴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22"/>
          <p:cNvSpPr/>
          <p:nvPr/>
        </p:nvSpPr>
        <p:spPr>
          <a:xfrm>
            <a:off x="320040" y="2377440"/>
            <a:ext cx="129844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1" i="0" lang="fr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Fork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22"/>
          <p:cNvSpPr/>
          <p:nvPr/>
        </p:nvSpPr>
        <p:spPr>
          <a:xfrm>
            <a:off x="320040" y="2651760"/>
            <a:ext cx="1298448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fr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Copie publique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fr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sur ton compte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65" name="Google Shape;265;p22"/>
          <p:cNvCxnSpPr/>
          <p:nvPr/>
        </p:nvCxnSpPr>
        <p:spPr>
          <a:xfrm>
            <a:off x="1627632" y="2587752"/>
            <a:ext cx="109728" cy="0"/>
          </a:xfrm>
          <a:prstGeom prst="straightConnector1">
            <a:avLst/>
          </a:prstGeom>
          <a:noFill/>
          <a:ln cap="flat" cmpd="sng" w="12700">
            <a:solidFill>
              <a:srgbClr val="64748B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66" name="Google Shape;266;p22"/>
          <p:cNvSpPr/>
          <p:nvPr/>
        </p:nvSpPr>
        <p:spPr>
          <a:xfrm>
            <a:off x="1746504" y="1901952"/>
            <a:ext cx="1298448" cy="13716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22"/>
          <p:cNvSpPr/>
          <p:nvPr/>
        </p:nvSpPr>
        <p:spPr>
          <a:xfrm>
            <a:off x="1746504" y="1938528"/>
            <a:ext cx="1298448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fr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📥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22"/>
          <p:cNvSpPr/>
          <p:nvPr/>
        </p:nvSpPr>
        <p:spPr>
          <a:xfrm>
            <a:off x="1746504" y="2377440"/>
            <a:ext cx="129844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1" i="0" lang="fr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Clone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22"/>
          <p:cNvSpPr/>
          <p:nvPr/>
        </p:nvSpPr>
        <p:spPr>
          <a:xfrm>
            <a:off x="1746504" y="2651760"/>
            <a:ext cx="1298448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fr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Copie locale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fr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sur ta machine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70" name="Google Shape;270;p22"/>
          <p:cNvCxnSpPr/>
          <p:nvPr/>
        </p:nvCxnSpPr>
        <p:spPr>
          <a:xfrm>
            <a:off x="3054096" y="2587752"/>
            <a:ext cx="109728" cy="0"/>
          </a:xfrm>
          <a:prstGeom prst="straightConnector1">
            <a:avLst/>
          </a:prstGeom>
          <a:noFill/>
          <a:ln cap="flat" cmpd="sng" w="12700">
            <a:solidFill>
              <a:srgbClr val="64748B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71" name="Google Shape;271;p22"/>
          <p:cNvSpPr/>
          <p:nvPr/>
        </p:nvSpPr>
        <p:spPr>
          <a:xfrm>
            <a:off x="3172968" y="1901952"/>
            <a:ext cx="1298448" cy="13716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22"/>
          <p:cNvSpPr/>
          <p:nvPr/>
        </p:nvSpPr>
        <p:spPr>
          <a:xfrm>
            <a:off x="3172968" y="1938528"/>
            <a:ext cx="1298448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fr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🌿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22"/>
          <p:cNvSpPr/>
          <p:nvPr/>
        </p:nvSpPr>
        <p:spPr>
          <a:xfrm>
            <a:off x="3172968" y="2377440"/>
            <a:ext cx="129844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1" i="0" lang="fr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Branch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22"/>
          <p:cNvSpPr/>
          <p:nvPr/>
        </p:nvSpPr>
        <p:spPr>
          <a:xfrm>
            <a:off x="3172968" y="2651760"/>
            <a:ext cx="1298448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fr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feat/ma-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fr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contrib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75" name="Google Shape;275;p22"/>
          <p:cNvCxnSpPr/>
          <p:nvPr/>
        </p:nvCxnSpPr>
        <p:spPr>
          <a:xfrm>
            <a:off x="4480560" y="2587752"/>
            <a:ext cx="109728" cy="0"/>
          </a:xfrm>
          <a:prstGeom prst="straightConnector1">
            <a:avLst/>
          </a:prstGeom>
          <a:noFill/>
          <a:ln cap="flat" cmpd="sng" w="12700">
            <a:solidFill>
              <a:srgbClr val="64748B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76" name="Google Shape;276;p22"/>
          <p:cNvSpPr/>
          <p:nvPr/>
        </p:nvSpPr>
        <p:spPr>
          <a:xfrm>
            <a:off x="4599432" y="1901952"/>
            <a:ext cx="1298448" cy="13716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22"/>
          <p:cNvSpPr/>
          <p:nvPr/>
        </p:nvSpPr>
        <p:spPr>
          <a:xfrm>
            <a:off x="4599432" y="1938528"/>
            <a:ext cx="1298448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fr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💾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22"/>
          <p:cNvSpPr/>
          <p:nvPr/>
        </p:nvSpPr>
        <p:spPr>
          <a:xfrm>
            <a:off x="4599432" y="2377440"/>
            <a:ext cx="129844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1" i="0" lang="fr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Commit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22"/>
          <p:cNvSpPr/>
          <p:nvPr/>
        </p:nvSpPr>
        <p:spPr>
          <a:xfrm>
            <a:off x="4599432" y="2651760"/>
            <a:ext cx="1298448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fr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Coder +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fr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sauvegarder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80" name="Google Shape;280;p22"/>
          <p:cNvCxnSpPr/>
          <p:nvPr/>
        </p:nvCxnSpPr>
        <p:spPr>
          <a:xfrm>
            <a:off x="5907024" y="2587752"/>
            <a:ext cx="109728" cy="0"/>
          </a:xfrm>
          <a:prstGeom prst="straightConnector1">
            <a:avLst/>
          </a:prstGeom>
          <a:noFill/>
          <a:ln cap="flat" cmpd="sng" w="12700">
            <a:solidFill>
              <a:srgbClr val="64748B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81" name="Google Shape;281;p22"/>
          <p:cNvSpPr/>
          <p:nvPr/>
        </p:nvSpPr>
        <p:spPr>
          <a:xfrm>
            <a:off x="6025896" y="1901952"/>
            <a:ext cx="1298448" cy="13716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22"/>
          <p:cNvSpPr/>
          <p:nvPr/>
        </p:nvSpPr>
        <p:spPr>
          <a:xfrm>
            <a:off x="6025896" y="1938528"/>
            <a:ext cx="1298448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fr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🚀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22"/>
          <p:cNvSpPr/>
          <p:nvPr/>
        </p:nvSpPr>
        <p:spPr>
          <a:xfrm>
            <a:off x="6025896" y="2377440"/>
            <a:ext cx="129844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1" i="0" lang="fr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Push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22"/>
          <p:cNvSpPr/>
          <p:nvPr/>
        </p:nvSpPr>
        <p:spPr>
          <a:xfrm>
            <a:off x="6025896" y="2651760"/>
            <a:ext cx="1298448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fr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Envoyer sur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fr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GitHub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85" name="Google Shape;285;p22"/>
          <p:cNvCxnSpPr/>
          <p:nvPr/>
        </p:nvCxnSpPr>
        <p:spPr>
          <a:xfrm>
            <a:off x="7333488" y="2587752"/>
            <a:ext cx="109728" cy="0"/>
          </a:xfrm>
          <a:prstGeom prst="straightConnector1">
            <a:avLst/>
          </a:prstGeom>
          <a:noFill/>
          <a:ln cap="flat" cmpd="sng" w="12700">
            <a:solidFill>
              <a:srgbClr val="64748B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86" name="Google Shape;286;p22"/>
          <p:cNvSpPr/>
          <p:nvPr/>
        </p:nvSpPr>
        <p:spPr>
          <a:xfrm>
            <a:off x="7452360" y="1901952"/>
            <a:ext cx="1298448" cy="1371600"/>
          </a:xfrm>
          <a:prstGeom prst="rect">
            <a:avLst/>
          </a:prstGeom>
          <a:solidFill>
            <a:srgbClr val="DBEAFE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22"/>
          <p:cNvSpPr/>
          <p:nvPr/>
        </p:nvSpPr>
        <p:spPr>
          <a:xfrm>
            <a:off x="7452360" y="1938528"/>
            <a:ext cx="1298448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fr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🔀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22"/>
          <p:cNvSpPr/>
          <p:nvPr/>
        </p:nvSpPr>
        <p:spPr>
          <a:xfrm>
            <a:off x="7452360" y="2377440"/>
            <a:ext cx="129844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100"/>
              <a:buFont typeface="Calibri"/>
              <a:buNone/>
            </a:pPr>
            <a:r>
              <a:rPr b="1" i="0" lang="fr" sz="110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PR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22"/>
          <p:cNvSpPr/>
          <p:nvPr/>
        </p:nvSpPr>
        <p:spPr>
          <a:xfrm>
            <a:off x="7452360" y="2651760"/>
            <a:ext cx="1298448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fr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Demander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fr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le merge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22"/>
          <p:cNvSpPr/>
          <p:nvPr/>
        </p:nvSpPr>
        <p:spPr>
          <a:xfrm>
            <a:off x="365760" y="3401568"/>
            <a:ext cx="8412480" cy="1234440"/>
          </a:xfrm>
          <a:prstGeom prst="rect">
            <a:avLst/>
          </a:prstGeom>
          <a:solidFill>
            <a:srgbClr val="F1F5F9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22"/>
          <p:cNvSpPr/>
          <p:nvPr/>
        </p:nvSpPr>
        <p:spPr>
          <a:xfrm>
            <a:off x="475488" y="3511296"/>
            <a:ext cx="100584" cy="100584"/>
          </a:xfrm>
          <a:prstGeom prst="ellipse">
            <a:avLst/>
          </a:prstGeom>
          <a:solidFill>
            <a:srgbClr val="FC615D"/>
          </a:solidFill>
          <a:ln cap="flat" cmpd="sng" w="12700">
            <a:solidFill>
              <a:srgbClr val="FC61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22"/>
          <p:cNvSpPr/>
          <p:nvPr/>
        </p:nvSpPr>
        <p:spPr>
          <a:xfrm>
            <a:off x="612648" y="3511296"/>
            <a:ext cx="100584" cy="100584"/>
          </a:xfrm>
          <a:prstGeom prst="ellipse">
            <a:avLst/>
          </a:prstGeom>
          <a:solidFill>
            <a:srgbClr val="FDBC2C"/>
          </a:solidFill>
          <a:ln cap="flat" cmpd="sng" w="12700">
            <a:solidFill>
              <a:srgbClr val="FDBC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22"/>
          <p:cNvSpPr/>
          <p:nvPr/>
        </p:nvSpPr>
        <p:spPr>
          <a:xfrm>
            <a:off x="749808" y="3511296"/>
            <a:ext cx="100584" cy="100584"/>
          </a:xfrm>
          <a:prstGeom prst="ellipse">
            <a:avLst/>
          </a:prstGeom>
          <a:solidFill>
            <a:srgbClr val="34C749"/>
          </a:solidFill>
          <a:ln cap="flat" cmpd="sng" w="12700">
            <a:solidFill>
              <a:srgbClr val="34C7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22"/>
          <p:cNvSpPr/>
          <p:nvPr/>
        </p:nvSpPr>
        <p:spPr>
          <a:xfrm>
            <a:off x="475488" y="3694176"/>
            <a:ext cx="8193024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onsolas"/>
              <a:buNone/>
            </a:pPr>
            <a:r>
              <a:rPr b="0" i="0" lang="fr" sz="1050" u="none" cap="none" strike="noStrike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git clone https://github.com/user/repo.git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onsolas"/>
              <a:buNone/>
            </a:pPr>
            <a:r>
              <a:rPr b="0" i="0" lang="fr" sz="1050" u="none" cap="none" strike="noStrike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git checkout -b feat/ma-contrib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onsolas"/>
              <a:buNone/>
            </a:pPr>
            <a:r>
              <a:rPr b="0" i="0" lang="fr" sz="1050" u="none" cap="none" strike="noStrike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# ... coder ...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onsolas"/>
              <a:buNone/>
            </a:pPr>
            <a:r>
              <a:rPr b="0" i="0" lang="fr" sz="1050" u="none" cap="none" strike="noStrike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git push origin feat/ma-contrib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onsolas"/>
              <a:buNone/>
            </a:pPr>
            <a:r>
              <a:rPr b="0" i="0" lang="fr" sz="1050" u="none" cap="none" strike="noStrike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# → Ouvrir la Pull Request sur GitHub (bouton vert)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22"/>
          <p:cNvSpPr/>
          <p:nvPr/>
        </p:nvSpPr>
        <p:spPr>
          <a:xfrm>
            <a:off x="365760" y="4736592"/>
            <a:ext cx="8412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1" lang="fr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📎 docs.github.com/fr/pull-requests · git-scm.com/book ch.5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23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23"/>
          <p:cNvSpPr/>
          <p:nvPr/>
        </p:nvSpPr>
        <p:spPr>
          <a:xfrm>
            <a:off x="274320" y="0"/>
            <a:ext cx="5486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BD4"/>
              </a:buClr>
              <a:buSzPts val="1000"/>
              <a:buFont typeface="Calibri"/>
              <a:buNone/>
            </a:pPr>
            <a:r>
              <a:rPr b="0" i="0" lang="fr" sz="1000" u="none" cap="none" strike="noStrike">
                <a:solidFill>
                  <a:srgbClr val="AABBD4"/>
                </a:solidFill>
                <a:latin typeface="Calibri"/>
                <a:ea typeface="Calibri"/>
                <a:cs typeface="Calibri"/>
                <a:sym typeface="Calibri"/>
              </a:rPr>
              <a:t>Introduction à Git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23"/>
          <p:cNvSpPr/>
          <p:nvPr/>
        </p:nvSpPr>
        <p:spPr>
          <a:xfrm>
            <a:off x="6949440" y="91440"/>
            <a:ext cx="1097280" cy="292608"/>
          </a:xfrm>
          <a:prstGeom prst="roundRect">
            <a:avLst>
              <a:gd fmla="val 15625" name="adj"/>
            </a:avLst>
          </a:prstGeom>
          <a:solidFill>
            <a:srgbClr val="DCFCE7"/>
          </a:solidFill>
          <a:ln cap="flat" cmpd="sng" w="12700">
            <a:solidFill>
              <a:srgbClr val="DCFC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23"/>
          <p:cNvSpPr/>
          <p:nvPr/>
        </p:nvSpPr>
        <p:spPr>
          <a:xfrm>
            <a:off x="6949440" y="91440"/>
            <a:ext cx="10972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900"/>
              <a:buFont typeface="Calibri"/>
              <a:buNone/>
            </a:pPr>
            <a:r>
              <a:rPr b="1" i="0" lang="fr" sz="900" u="none" cap="none" strike="noStrike">
                <a:solidFill>
                  <a:srgbClr val="16A34A"/>
                </a:solidFill>
                <a:latin typeface="Calibri"/>
                <a:ea typeface="Calibri"/>
                <a:cs typeface="Calibri"/>
                <a:sym typeface="Calibri"/>
              </a:rPr>
              <a:t>NIVEAU +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23"/>
          <p:cNvSpPr/>
          <p:nvPr/>
        </p:nvSpPr>
        <p:spPr>
          <a:xfrm>
            <a:off x="365760" y="566928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1" i="0" lang="fr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AVANCÉ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23"/>
          <p:cNvSpPr/>
          <p:nvPr/>
        </p:nvSpPr>
        <p:spPr>
          <a:xfrm>
            <a:off x="365760" y="896112"/>
            <a:ext cx="84124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600"/>
              <a:buFont typeface="Calibri"/>
              <a:buNone/>
            </a:pPr>
            <a:r>
              <a:rPr b="1" i="0" lang="fr" sz="26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git stash, log, blame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23"/>
          <p:cNvSpPr/>
          <p:nvPr/>
        </p:nvSpPr>
        <p:spPr>
          <a:xfrm>
            <a:off x="365760" y="1481328"/>
            <a:ext cx="84124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Calibri"/>
              <a:buNone/>
            </a:pPr>
            <a:r>
              <a:rPr b="0" i="1" lang="fr" sz="13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Les commandes qui sauvent au quotidien.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23"/>
          <p:cNvSpPr/>
          <p:nvPr/>
        </p:nvSpPr>
        <p:spPr>
          <a:xfrm>
            <a:off x="365760" y="1920240"/>
            <a:ext cx="4114800" cy="10972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23"/>
          <p:cNvSpPr/>
          <p:nvPr/>
        </p:nvSpPr>
        <p:spPr>
          <a:xfrm>
            <a:off x="365760" y="1920240"/>
            <a:ext cx="54864" cy="1097280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23"/>
          <p:cNvSpPr/>
          <p:nvPr/>
        </p:nvSpPr>
        <p:spPr>
          <a:xfrm>
            <a:off x="530352" y="1993392"/>
            <a:ext cx="3840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100"/>
              <a:buFont typeface="Consolas"/>
              <a:buNone/>
            </a:pPr>
            <a:r>
              <a:rPr b="1" i="0" lang="fr" sz="1100" u="none" cap="none" strike="noStrike">
                <a:solidFill>
                  <a:srgbClr val="2563EB"/>
                </a:solidFill>
                <a:latin typeface="Consolas"/>
                <a:ea typeface="Consolas"/>
                <a:cs typeface="Consolas"/>
                <a:sym typeface="Consolas"/>
              </a:rPr>
              <a:t>📦  git stash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23"/>
          <p:cNvSpPr/>
          <p:nvPr/>
        </p:nvSpPr>
        <p:spPr>
          <a:xfrm>
            <a:off x="530352" y="2331720"/>
            <a:ext cx="38404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b="0" i="0" lang="fr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Mettre ses modifications en pause sans commiter. Idéal pour switcher de branche en urgence.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23"/>
          <p:cNvSpPr/>
          <p:nvPr/>
        </p:nvSpPr>
        <p:spPr>
          <a:xfrm>
            <a:off x="4617720" y="1920240"/>
            <a:ext cx="4114800" cy="10972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23"/>
          <p:cNvSpPr/>
          <p:nvPr/>
        </p:nvSpPr>
        <p:spPr>
          <a:xfrm>
            <a:off x="4617720" y="1920240"/>
            <a:ext cx="54864" cy="1097280"/>
          </a:xfrm>
          <a:prstGeom prst="rect">
            <a:avLst/>
          </a:prstGeom>
          <a:solidFill>
            <a:srgbClr val="16A34A"/>
          </a:solidFill>
          <a:ln cap="flat" cmpd="sng" w="12700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23"/>
          <p:cNvSpPr/>
          <p:nvPr/>
        </p:nvSpPr>
        <p:spPr>
          <a:xfrm>
            <a:off x="4782312" y="1993392"/>
            <a:ext cx="3840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1100"/>
              <a:buFont typeface="Consolas"/>
              <a:buNone/>
            </a:pPr>
            <a:r>
              <a:rPr b="1" i="0" lang="fr" sz="1100" u="none" cap="none" strike="noStrike">
                <a:solidFill>
                  <a:srgbClr val="16A34A"/>
                </a:solidFill>
                <a:latin typeface="Consolas"/>
                <a:ea typeface="Consolas"/>
                <a:cs typeface="Consolas"/>
                <a:sym typeface="Consolas"/>
              </a:rPr>
              <a:t>🌳  git log --oneline --graph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23"/>
          <p:cNvSpPr/>
          <p:nvPr/>
        </p:nvSpPr>
        <p:spPr>
          <a:xfrm>
            <a:off x="4782312" y="2331720"/>
            <a:ext cx="38404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b="0" i="0" lang="fr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Visualiser l'historique sous forme d'arbre de branches, condensé sur une ligne.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23"/>
          <p:cNvSpPr/>
          <p:nvPr/>
        </p:nvSpPr>
        <p:spPr>
          <a:xfrm>
            <a:off x="365760" y="3200400"/>
            <a:ext cx="4114800" cy="10972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A580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23"/>
          <p:cNvSpPr/>
          <p:nvPr/>
        </p:nvSpPr>
        <p:spPr>
          <a:xfrm>
            <a:off x="365760" y="3200400"/>
            <a:ext cx="54864" cy="1097280"/>
          </a:xfrm>
          <a:prstGeom prst="rect">
            <a:avLst/>
          </a:prstGeom>
          <a:solidFill>
            <a:srgbClr val="EA580C"/>
          </a:solidFill>
          <a:ln cap="flat" cmpd="sng" w="12700">
            <a:solidFill>
              <a:srgbClr val="EA580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23"/>
          <p:cNvSpPr/>
          <p:nvPr/>
        </p:nvSpPr>
        <p:spPr>
          <a:xfrm>
            <a:off x="530352" y="3273552"/>
            <a:ext cx="3840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580C"/>
              </a:buClr>
              <a:buSzPts val="1100"/>
              <a:buFont typeface="Consolas"/>
              <a:buNone/>
            </a:pPr>
            <a:r>
              <a:rPr b="1" i="0" lang="fr" sz="1100" u="none" cap="none" strike="noStrike">
                <a:solidFill>
                  <a:srgbClr val="EA580C"/>
                </a:solidFill>
                <a:latin typeface="Consolas"/>
                <a:ea typeface="Consolas"/>
                <a:cs typeface="Consolas"/>
                <a:sym typeface="Consolas"/>
              </a:rPr>
              <a:t>🔍  git blame fichier.txt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23"/>
          <p:cNvSpPr/>
          <p:nvPr/>
        </p:nvSpPr>
        <p:spPr>
          <a:xfrm>
            <a:off x="530352" y="3611880"/>
            <a:ext cx="38404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b="0" i="0" lang="fr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Voir qui a écrit chaque ligne et dans quel commit. Indispensable pour comprendre le contexte.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23"/>
          <p:cNvSpPr/>
          <p:nvPr/>
        </p:nvSpPr>
        <p:spPr>
          <a:xfrm>
            <a:off x="4617720" y="3200400"/>
            <a:ext cx="4114800" cy="10972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23"/>
          <p:cNvSpPr/>
          <p:nvPr/>
        </p:nvSpPr>
        <p:spPr>
          <a:xfrm>
            <a:off x="4617720" y="3200400"/>
            <a:ext cx="54864" cy="109728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23"/>
          <p:cNvSpPr/>
          <p:nvPr/>
        </p:nvSpPr>
        <p:spPr>
          <a:xfrm>
            <a:off x="4782312" y="3273552"/>
            <a:ext cx="3840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00"/>
              <a:buFont typeface="Consolas"/>
              <a:buNone/>
            </a:pPr>
            <a:r>
              <a:rPr b="1" i="0" lang="fr" sz="1100" u="none" cap="none" strike="noStrike">
                <a:solidFill>
                  <a:srgbClr val="1E2761"/>
                </a:solidFill>
                <a:latin typeface="Consolas"/>
                <a:ea typeface="Consolas"/>
                <a:cs typeface="Consolas"/>
                <a:sym typeface="Consolas"/>
              </a:rPr>
              <a:t>↩️  git revert &lt;hash&gt;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23"/>
          <p:cNvSpPr/>
          <p:nvPr/>
        </p:nvSpPr>
        <p:spPr>
          <a:xfrm>
            <a:off x="4782312" y="3611880"/>
            <a:ext cx="38404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b="0" i="0" lang="fr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Annuler un commit passé en créant un nouveau commit. L'historique reste intact.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23"/>
          <p:cNvSpPr/>
          <p:nvPr/>
        </p:nvSpPr>
        <p:spPr>
          <a:xfrm>
            <a:off x="365760" y="4736592"/>
            <a:ext cx="8412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1" lang="fr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📎 github.blog/open-source/git/git-turns-20-a-qa-with-linus-torvalds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24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24"/>
          <p:cNvSpPr/>
          <p:nvPr/>
        </p:nvSpPr>
        <p:spPr>
          <a:xfrm>
            <a:off x="274320" y="0"/>
            <a:ext cx="5486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BD4"/>
              </a:buClr>
              <a:buSzPts val="1000"/>
              <a:buFont typeface="Calibri"/>
              <a:buNone/>
            </a:pPr>
            <a:r>
              <a:rPr b="0" i="0" lang="fr" sz="1000" u="none" cap="none" strike="noStrike">
                <a:solidFill>
                  <a:srgbClr val="AABBD4"/>
                </a:solidFill>
                <a:latin typeface="Calibri"/>
                <a:ea typeface="Calibri"/>
                <a:cs typeface="Calibri"/>
                <a:sym typeface="Calibri"/>
              </a:rPr>
              <a:t>Introduction à Git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24"/>
          <p:cNvSpPr/>
          <p:nvPr/>
        </p:nvSpPr>
        <p:spPr>
          <a:xfrm>
            <a:off x="6949440" y="91440"/>
            <a:ext cx="1097280" cy="292608"/>
          </a:xfrm>
          <a:prstGeom prst="roundRect">
            <a:avLst>
              <a:gd fmla="val 15625" name="adj"/>
            </a:avLst>
          </a:prstGeom>
          <a:solidFill>
            <a:srgbClr val="DCFCE7"/>
          </a:solidFill>
          <a:ln cap="flat" cmpd="sng" w="12700">
            <a:solidFill>
              <a:srgbClr val="DCFC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24"/>
          <p:cNvSpPr/>
          <p:nvPr/>
        </p:nvSpPr>
        <p:spPr>
          <a:xfrm>
            <a:off x="6949440" y="91440"/>
            <a:ext cx="10972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900"/>
              <a:buFont typeface="Calibri"/>
              <a:buNone/>
            </a:pPr>
            <a:r>
              <a:rPr b="1" i="0" lang="fr" sz="900" u="none" cap="none" strike="noStrike">
                <a:solidFill>
                  <a:srgbClr val="16A34A"/>
                </a:solidFill>
                <a:latin typeface="Calibri"/>
                <a:ea typeface="Calibri"/>
                <a:cs typeface="Calibri"/>
                <a:sym typeface="Calibri"/>
              </a:rPr>
              <a:t>NIVEAU +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24"/>
          <p:cNvSpPr/>
          <p:nvPr/>
        </p:nvSpPr>
        <p:spPr>
          <a:xfrm>
            <a:off x="365760" y="566928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1" i="0" lang="fr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AVANCÉ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24"/>
          <p:cNvSpPr/>
          <p:nvPr/>
        </p:nvSpPr>
        <p:spPr>
          <a:xfrm>
            <a:off x="365760" y="896112"/>
            <a:ext cx="84124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600"/>
              <a:buFont typeface="Calibri"/>
              <a:buNone/>
            </a:pPr>
            <a:r>
              <a:rPr b="1" i="0" lang="fr" sz="26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.gitignore &amp; bonnes pratiques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24"/>
          <p:cNvSpPr/>
          <p:nvPr/>
        </p:nvSpPr>
        <p:spPr>
          <a:xfrm>
            <a:off x="365760" y="1481328"/>
            <a:ext cx="84124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Calibri"/>
              <a:buNone/>
            </a:pPr>
            <a:r>
              <a:rPr b="0" i="1" lang="fr" sz="13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Ce qu'on ne doit jamais commiter — et comment écrire de bons commits.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24"/>
          <p:cNvSpPr/>
          <p:nvPr/>
        </p:nvSpPr>
        <p:spPr>
          <a:xfrm>
            <a:off x="365760" y="1901952"/>
            <a:ext cx="4069080" cy="2606040"/>
          </a:xfrm>
          <a:prstGeom prst="rect">
            <a:avLst/>
          </a:prstGeom>
          <a:solidFill>
            <a:srgbClr val="F1F5F9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24"/>
          <p:cNvSpPr/>
          <p:nvPr/>
        </p:nvSpPr>
        <p:spPr>
          <a:xfrm>
            <a:off x="475488" y="1993392"/>
            <a:ext cx="109728" cy="109728"/>
          </a:xfrm>
          <a:prstGeom prst="ellipse">
            <a:avLst/>
          </a:prstGeom>
          <a:solidFill>
            <a:srgbClr val="FC615D"/>
          </a:solidFill>
          <a:ln cap="flat" cmpd="sng" w="12700">
            <a:solidFill>
              <a:srgbClr val="FC61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24"/>
          <p:cNvSpPr/>
          <p:nvPr/>
        </p:nvSpPr>
        <p:spPr>
          <a:xfrm>
            <a:off x="621792" y="1993392"/>
            <a:ext cx="109728" cy="109728"/>
          </a:xfrm>
          <a:prstGeom prst="ellipse">
            <a:avLst/>
          </a:prstGeom>
          <a:solidFill>
            <a:srgbClr val="FDBC2C"/>
          </a:solidFill>
          <a:ln cap="flat" cmpd="sng" w="12700">
            <a:solidFill>
              <a:srgbClr val="FDBC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24"/>
          <p:cNvSpPr/>
          <p:nvPr/>
        </p:nvSpPr>
        <p:spPr>
          <a:xfrm>
            <a:off x="768096" y="1993392"/>
            <a:ext cx="109728" cy="109728"/>
          </a:xfrm>
          <a:prstGeom prst="ellipse">
            <a:avLst/>
          </a:prstGeom>
          <a:solidFill>
            <a:srgbClr val="34C749"/>
          </a:solidFill>
          <a:ln cap="flat" cmpd="sng" w="12700">
            <a:solidFill>
              <a:srgbClr val="34C7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24"/>
          <p:cNvSpPr/>
          <p:nvPr/>
        </p:nvSpPr>
        <p:spPr>
          <a:xfrm>
            <a:off x="502920" y="1984248"/>
            <a:ext cx="3474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1" i="0" lang="fr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.gitignore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24"/>
          <p:cNvSpPr/>
          <p:nvPr/>
        </p:nvSpPr>
        <p:spPr>
          <a:xfrm>
            <a:off x="502920" y="2304288"/>
            <a:ext cx="3749040" cy="20848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onsolas"/>
              <a:buNone/>
            </a:pPr>
            <a:r>
              <a:rPr b="0" i="0" lang="fr" sz="1050" u="none" cap="none" strike="noStrike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# Jamais commiter :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onsolas"/>
              <a:buNone/>
            </a:pPr>
            <a:r>
              <a:rPr b="0" i="0" lang="fr" sz="1050" u="none" cap="none" strike="noStrike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*.env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onsolas"/>
              <a:buNone/>
            </a:pPr>
            <a:r>
              <a:rPr b="0" i="0" lang="fr" sz="1050" u="none" cap="none" strike="noStrike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node_modules/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onsolas"/>
              <a:buNone/>
            </a:pPr>
            <a:r>
              <a:rPr b="0" i="0" lang="fr" sz="1050" u="none" cap="none" strike="noStrike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__pycache__/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onsolas"/>
              <a:buNone/>
            </a:pPr>
            <a:r>
              <a:rPr b="0" i="0" lang="fr" sz="1050" u="none" cap="none" strike="noStrike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.DS_Store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Calibri"/>
              <a:buNone/>
            </a:pPr>
            <a:r>
              <a:t/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onsolas"/>
              <a:buNone/>
            </a:pPr>
            <a:r>
              <a:rPr b="0" i="0" lang="fr" sz="1050" u="none" cap="none" strike="noStrike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# Clés API, mots de passe,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onsolas"/>
              <a:buNone/>
            </a:pPr>
            <a:r>
              <a:rPr b="0" i="0" lang="fr" sz="1050" u="none" cap="none" strike="noStrike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# tokens → DANGER 🔴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24"/>
          <p:cNvSpPr/>
          <p:nvPr/>
        </p:nvSpPr>
        <p:spPr>
          <a:xfrm>
            <a:off x="4617720" y="1901952"/>
            <a:ext cx="4160520" cy="26060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24"/>
          <p:cNvSpPr/>
          <p:nvPr/>
        </p:nvSpPr>
        <p:spPr>
          <a:xfrm>
            <a:off x="4754880" y="1965960"/>
            <a:ext cx="3840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1200"/>
              <a:buFont typeface="Calibri"/>
              <a:buNone/>
            </a:pPr>
            <a:r>
              <a:rPr b="1" i="0" lang="fr" sz="1200" u="none" cap="none" strike="noStrike">
                <a:solidFill>
                  <a:srgbClr val="16A34A"/>
                </a:solidFill>
                <a:latin typeface="Calibri"/>
                <a:ea typeface="Calibri"/>
                <a:cs typeface="Calibri"/>
                <a:sym typeface="Calibri"/>
              </a:rPr>
              <a:t>✅ Conventional Commits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24"/>
          <p:cNvSpPr/>
          <p:nvPr/>
        </p:nvSpPr>
        <p:spPr>
          <a:xfrm>
            <a:off x="4754880" y="2395728"/>
            <a:ext cx="685800" cy="329184"/>
          </a:xfrm>
          <a:prstGeom prst="rect">
            <a:avLst/>
          </a:prstGeom>
          <a:solidFill>
            <a:srgbClr val="DBEAFE"/>
          </a:solidFill>
          <a:ln cap="flat" cmpd="sng" w="12700">
            <a:solidFill>
              <a:srgbClr val="DBEA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24"/>
          <p:cNvSpPr/>
          <p:nvPr/>
        </p:nvSpPr>
        <p:spPr>
          <a:xfrm>
            <a:off x="4754880" y="2395728"/>
            <a:ext cx="6858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950"/>
              <a:buFont typeface="Consolas"/>
              <a:buNone/>
            </a:pPr>
            <a:r>
              <a:rPr b="1" i="0" lang="fr" sz="950" u="none" cap="none" strike="noStrike">
                <a:solidFill>
                  <a:srgbClr val="2563EB"/>
                </a:solidFill>
                <a:latin typeface="Consolas"/>
                <a:ea typeface="Consolas"/>
                <a:cs typeface="Consolas"/>
                <a:sym typeface="Consolas"/>
              </a:rPr>
              <a:t>feat: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24"/>
          <p:cNvSpPr/>
          <p:nvPr/>
        </p:nvSpPr>
        <p:spPr>
          <a:xfrm>
            <a:off x="5532120" y="2395728"/>
            <a:ext cx="30632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0" lang="fr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nouvelle fonctionnalité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24"/>
          <p:cNvSpPr/>
          <p:nvPr/>
        </p:nvSpPr>
        <p:spPr>
          <a:xfrm>
            <a:off x="4754880" y="2871216"/>
            <a:ext cx="685800" cy="329184"/>
          </a:xfrm>
          <a:prstGeom prst="rect">
            <a:avLst/>
          </a:prstGeom>
          <a:solidFill>
            <a:srgbClr val="DBEAFE"/>
          </a:solidFill>
          <a:ln cap="flat" cmpd="sng" w="12700">
            <a:solidFill>
              <a:srgbClr val="DBEA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24"/>
          <p:cNvSpPr/>
          <p:nvPr/>
        </p:nvSpPr>
        <p:spPr>
          <a:xfrm>
            <a:off x="4754880" y="2871216"/>
            <a:ext cx="6858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950"/>
              <a:buFont typeface="Consolas"/>
              <a:buNone/>
            </a:pPr>
            <a:r>
              <a:rPr b="1" i="0" lang="fr" sz="950" u="none" cap="none" strike="noStrike">
                <a:solidFill>
                  <a:srgbClr val="2563EB"/>
                </a:solidFill>
                <a:latin typeface="Consolas"/>
                <a:ea typeface="Consolas"/>
                <a:cs typeface="Consolas"/>
                <a:sym typeface="Consolas"/>
              </a:rPr>
              <a:t>fix: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24"/>
          <p:cNvSpPr/>
          <p:nvPr/>
        </p:nvSpPr>
        <p:spPr>
          <a:xfrm>
            <a:off x="5532120" y="2871216"/>
            <a:ext cx="30632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0" lang="fr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correction de bug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24"/>
          <p:cNvSpPr/>
          <p:nvPr/>
        </p:nvSpPr>
        <p:spPr>
          <a:xfrm>
            <a:off x="4754880" y="3346704"/>
            <a:ext cx="685800" cy="329184"/>
          </a:xfrm>
          <a:prstGeom prst="rect">
            <a:avLst/>
          </a:prstGeom>
          <a:solidFill>
            <a:srgbClr val="DBEAFE"/>
          </a:solidFill>
          <a:ln cap="flat" cmpd="sng" w="12700">
            <a:solidFill>
              <a:srgbClr val="DBEA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24"/>
          <p:cNvSpPr/>
          <p:nvPr/>
        </p:nvSpPr>
        <p:spPr>
          <a:xfrm>
            <a:off x="4754880" y="3346704"/>
            <a:ext cx="6858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950"/>
              <a:buFont typeface="Consolas"/>
              <a:buNone/>
            </a:pPr>
            <a:r>
              <a:rPr b="1" i="0" lang="fr" sz="950" u="none" cap="none" strike="noStrike">
                <a:solidFill>
                  <a:srgbClr val="2563EB"/>
                </a:solidFill>
                <a:latin typeface="Consolas"/>
                <a:ea typeface="Consolas"/>
                <a:cs typeface="Consolas"/>
                <a:sym typeface="Consolas"/>
              </a:rPr>
              <a:t>docs: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24"/>
          <p:cNvSpPr/>
          <p:nvPr/>
        </p:nvSpPr>
        <p:spPr>
          <a:xfrm>
            <a:off x="5532120" y="3346704"/>
            <a:ext cx="30632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0" lang="fr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documentation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24"/>
          <p:cNvSpPr/>
          <p:nvPr/>
        </p:nvSpPr>
        <p:spPr>
          <a:xfrm>
            <a:off x="4754880" y="3822192"/>
            <a:ext cx="685800" cy="329184"/>
          </a:xfrm>
          <a:prstGeom prst="rect">
            <a:avLst/>
          </a:prstGeom>
          <a:solidFill>
            <a:srgbClr val="DBEAFE"/>
          </a:solidFill>
          <a:ln cap="flat" cmpd="sng" w="12700">
            <a:solidFill>
              <a:srgbClr val="DBEA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24"/>
          <p:cNvSpPr/>
          <p:nvPr/>
        </p:nvSpPr>
        <p:spPr>
          <a:xfrm>
            <a:off x="4754880" y="3822192"/>
            <a:ext cx="6858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950"/>
              <a:buFont typeface="Consolas"/>
              <a:buNone/>
            </a:pPr>
            <a:r>
              <a:rPr b="1" i="0" lang="fr" sz="950" u="none" cap="none" strike="noStrike">
                <a:solidFill>
                  <a:srgbClr val="2563EB"/>
                </a:solidFill>
                <a:latin typeface="Consolas"/>
                <a:ea typeface="Consolas"/>
                <a:cs typeface="Consolas"/>
                <a:sym typeface="Consolas"/>
              </a:rPr>
              <a:t>chore: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24"/>
          <p:cNvSpPr/>
          <p:nvPr/>
        </p:nvSpPr>
        <p:spPr>
          <a:xfrm>
            <a:off x="5532120" y="3822192"/>
            <a:ext cx="30632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0" lang="fr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maintenance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24"/>
          <p:cNvSpPr/>
          <p:nvPr/>
        </p:nvSpPr>
        <p:spPr>
          <a:xfrm>
            <a:off x="4754880" y="4279392"/>
            <a:ext cx="38404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1" lang="fr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1 commit = 1 changement logique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24"/>
          <p:cNvSpPr/>
          <p:nvPr/>
        </p:nvSpPr>
        <p:spPr>
          <a:xfrm>
            <a:off x="365760" y="4736592"/>
            <a:ext cx="8412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1" lang="fr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📎 git-scm.com/docs/gitignore · conventionalcommits.org/fr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761"/>
        </a:solidFill>
      </p:bgPr>
    </p:bg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25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62055"/>
          </a:solidFill>
          <a:ln cap="flat" cmpd="sng" w="12700">
            <a:solidFill>
              <a:srgbClr val="1620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25"/>
          <p:cNvSpPr/>
          <p:nvPr/>
        </p:nvSpPr>
        <p:spPr>
          <a:xfrm>
            <a:off x="274320" y="0"/>
            <a:ext cx="5486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BD4"/>
              </a:buClr>
              <a:buSzPts val="1000"/>
              <a:buFont typeface="Calibri"/>
              <a:buNone/>
            </a:pPr>
            <a:r>
              <a:rPr b="0" i="0" lang="fr" sz="1000" u="none" cap="none" strike="noStrike">
                <a:solidFill>
                  <a:srgbClr val="AABBD4"/>
                </a:solidFill>
                <a:latin typeface="Calibri"/>
                <a:ea typeface="Calibri"/>
                <a:cs typeface="Calibri"/>
                <a:sym typeface="Calibri"/>
              </a:rPr>
              <a:t>Introduction à Git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25"/>
          <p:cNvSpPr/>
          <p:nvPr/>
        </p:nvSpPr>
        <p:spPr>
          <a:xfrm>
            <a:off x="0" y="0"/>
            <a:ext cx="88696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A6699"/>
              </a:buClr>
              <a:buSzPts val="1000"/>
              <a:buFont typeface="Calibri"/>
              <a:buNone/>
            </a:pPr>
            <a:r>
              <a:rPr b="0" i="0" lang="fr" sz="1000" u="none" cap="none" strike="noStrike">
                <a:solidFill>
                  <a:srgbClr val="4A6699"/>
                </a:solidFill>
                <a:latin typeface="Calibri"/>
                <a:ea typeface="Calibri"/>
                <a:cs typeface="Calibri"/>
                <a:sym typeface="Calibri"/>
              </a:rPr>
              <a:t>Slide 11 / 11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25"/>
          <p:cNvSpPr/>
          <p:nvPr/>
        </p:nvSpPr>
        <p:spPr>
          <a:xfrm>
            <a:off x="365760" y="64008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fr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Les 5 commandes du quotidien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25"/>
          <p:cNvSpPr/>
          <p:nvPr/>
        </p:nvSpPr>
        <p:spPr>
          <a:xfrm>
            <a:off x="320040" y="1261872"/>
            <a:ext cx="4160520" cy="475488"/>
          </a:xfrm>
          <a:prstGeom prst="rect">
            <a:avLst/>
          </a:prstGeom>
          <a:solidFill>
            <a:srgbClr val="162055"/>
          </a:solidFill>
          <a:ln cap="flat" cmpd="sng" w="12700">
            <a:solidFill>
              <a:srgbClr val="2535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25"/>
          <p:cNvSpPr/>
          <p:nvPr/>
        </p:nvSpPr>
        <p:spPr>
          <a:xfrm>
            <a:off x="457200" y="1261872"/>
            <a:ext cx="26517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DBC2C"/>
              </a:buClr>
              <a:buSzPts val="1150"/>
              <a:buFont typeface="Consolas"/>
              <a:buNone/>
            </a:pPr>
            <a:r>
              <a:rPr b="1" i="0" lang="fr" sz="1150" u="none" cap="none" strike="noStrike">
                <a:solidFill>
                  <a:srgbClr val="FDBC2C"/>
                </a:solidFill>
                <a:latin typeface="Consolas"/>
                <a:ea typeface="Consolas"/>
                <a:cs typeface="Consolas"/>
                <a:sym typeface="Consolas"/>
              </a:rPr>
              <a:t>git init / clone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25"/>
          <p:cNvSpPr/>
          <p:nvPr/>
        </p:nvSpPr>
        <p:spPr>
          <a:xfrm>
            <a:off x="3108960" y="1261872"/>
            <a:ext cx="123444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BD4"/>
              </a:buClr>
              <a:buSzPts val="1100"/>
              <a:buFont typeface="Calibri"/>
              <a:buNone/>
            </a:pPr>
            <a:r>
              <a:rPr b="0" i="0" lang="fr" sz="1100" u="none" cap="none" strike="noStrike">
                <a:solidFill>
                  <a:srgbClr val="AABBD4"/>
                </a:solidFill>
                <a:latin typeface="Calibri"/>
                <a:ea typeface="Calibri"/>
                <a:cs typeface="Calibri"/>
                <a:sym typeface="Calibri"/>
              </a:rPr>
              <a:t>→ Démarrer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25"/>
          <p:cNvSpPr/>
          <p:nvPr/>
        </p:nvSpPr>
        <p:spPr>
          <a:xfrm>
            <a:off x="320040" y="1828800"/>
            <a:ext cx="4160520" cy="475488"/>
          </a:xfrm>
          <a:prstGeom prst="rect">
            <a:avLst/>
          </a:prstGeom>
          <a:solidFill>
            <a:srgbClr val="162055"/>
          </a:solidFill>
          <a:ln cap="flat" cmpd="sng" w="12700">
            <a:solidFill>
              <a:srgbClr val="2535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p25"/>
          <p:cNvSpPr/>
          <p:nvPr/>
        </p:nvSpPr>
        <p:spPr>
          <a:xfrm>
            <a:off x="457200" y="1828800"/>
            <a:ext cx="26517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C749"/>
              </a:buClr>
              <a:buSzPts val="1150"/>
              <a:buFont typeface="Consolas"/>
              <a:buNone/>
            </a:pPr>
            <a:r>
              <a:rPr b="1" i="0" lang="fr" sz="1150" u="none" cap="none" strike="noStrike">
                <a:solidFill>
                  <a:srgbClr val="34C749"/>
                </a:solidFill>
                <a:latin typeface="Consolas"/>
                <a:ea typeface="Consolas"/>
                <a:cs typeface="Consolas"/>
                <a:sym typeface="Consolas"/>
              </a:rPr>
              <a:t>git add + commit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25"/>
          <p:cNvSpPr/>
          <p:nvPr/>
        </p:nvSpPr>
        <p:spPr>
          <a:xfrm>
            <a:off x="3108960" y="1828800"/>
            <a:ext cx="123444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BD4"/>
              </a:buClr>
              <a:buSzPts val="1100"/>
              <a:buFont typeface="Calibri"/>
              <a:buNone/>
            </a:pPr>
            <a:r>
              <a:rPr b="0" i="0" lang="fr" sz="1100" u="none" cap="none" strike="noStrike">
                <a:solidFill>
                  <a:srgbClr val="AABBD4"/>
                </a:solidFill>
                <a:latin typeface="Calibri"/>
                <a:ea typeface="Calibri"/>
                <a:cs typeface="Calibri"/>
                <a:sym typeface="Calibri"/>
              </a:rPr>
              <a:t>→ Sauvegarder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25"/>
          <p:cNvSpPr/>
          <p:nvPr/>
        </p:nvSpPr>
        <p:spPr>
          <a:xfrm>
            <a:off x="320040" y="2395728"/>
            <a:ext cx="4160520" cy="475488"/>
          </a:xfrm>
          <a:prstGeom prst="rect">
            <a:avLst/>
          </a:prstGeom>
          <a:solidFill>
            <a:srgbClr val="162055"/>
          </a:solidFill>
          <a:ln cap="flat" cmpd="sng" w="12700">
            <a:solidFill>
              <a:srgbClr val="2535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p25"/>
          <p:cNvSpPr/>
          <p:nvPr/>
        </p:nvSpPr>
        <p:spPr>
          <a:xfrm>
            <a:off x="457200" y="2395728"/>
            <a:ext cx="26517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9BD5"/>
              </a:buClr>
              <a:buSzPts val="1150"/>
              <a:buFont typeface="Consolas"/>
              <a:buNone/>
            </a:pPr>
            <a:r>
              <a:rPr b="1" i="0" lang="fr" sz="1150" u="none" cap="none" strike="noStrike">
                <a:solidFill>
                  <a:srgbClr val="5B9BD5"/>
                </a:solidFill>
                <a:latin typeface="Consolas"/>
                <a:ea typeface="Consolas"/>
                <a:cs typeface="Consolas"/>
                <a:sym typeface="Consolas"/>
              </a:rPr>
              <a:t>git branch + checkout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25"/>
          <p:cNvSpPr/>
          <p:nvPr/>
        </p:nvSpPr>
        <p:spPr>
          <a:xfrm>
            <a:off x="3108960" y="2395728"/>
            <a:ext cx="123444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BD4"/>
              </a:buClr>
              <a:buSzPts val="1100"/>
              <a:buFont typeface="Calibri"/>
              <a:buNone/>
            </a:pPr>
            <a:r>
              <a:rPr b="0" i="0" lang="fr" sz="1100" u="none" cap="none" strike="noStrike">
                <a:solidFill>
                  <a:srgbClr val="AABBD4"/>
                </a:solidFill>
                <a:latin typeface="Calibri"/>
                <a:ea typeface="Calibri"/>
                <a:cs typeface="Calibri"/>
                <a:sym typeface="Calibri"/>
              </a:rPr>
              <a:t>→ Expérimenter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25"/>
          <p:cNvSpPr/>
          <p:nvPr/>
        </p:nvSpPr>
        <p:spPr>
          <a:xfrm>
            <a:off x="4983480" y="1261872"/>
            <a:ext cx="4160520" cy="475488"/>
          </a:xfrm>
          <a:prstGeom prst="rect">
            <a:avLst/>
          </a:prstGeom>
          <a:solidFill>
            <a:srgbClr val="162055"/>
          </a:solidFill>
          <a:ln cap="flat" cmpd="sng" w="12700">
            <a:solidFill>
              <a:srgbClr val="2535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25"/>
          <p:cNvSpPr/>
          <p:nvPr/>
        </p:nvSpPr>
        <p:spPr>
          <a:xfrm>
            <a:off x="5120640" y="1261872"/>
            <a:ext cx="26517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C615D"/>
              </a:buClr>
              <a:buSzPts val="1150"/>
              <a:buFont typeface="Consolas"/>
              <a:buNone/>
            </a:pPr>
            <a:r>
              <a:rPr b="1" i="0" lang="fr" sz="1150" u="none" cap="none" strike="noStrike">
                <a:solidFill>
                  <a:srgbClr val="FC615D"/>
                </a:solidFill>
                <a:latin typeface="Consolas"/>
                <a:ea typeface="Consolas"/>
                <a:cs typeface="Consolas"/>
                <a:sym typeface="Consolas"/>
              </a:rPr>
              <a:t>git push + pull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25"/>
          <p:cNvSpPr/>
          <p:nvPr/>
        </p:nvSpPr>
        <p:spPr>
          <a:xfrm>
            <a:off x="7772400" y="1261872"/>
            <a:ext cx="123444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BD4"/>
              </a:buClr>
              <a:buSzPts val="1100"/>
              <a:buFont typeface="Calibri"/>
              <a:buNone/>
            </a:pPr>
            <a:r>
              <a:rPr b="0" i="0" lang="fr" sz="1100" u="none" cap="none" strike="noStrike">
                <a:solidFill>
                  <a:srgbClr val="AABBD4"/>
                </a:solidFill>
                <a:latin typeface="Calibri"/>
                <a:ea typeface="Calibri"/>
                <a:cs typeface="Calibri"/>
                <a:sym typeface="Calibri"/>
              </a:rPr>
              <a:t>→ Collaborer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25"/>
          <p:cNvSpPr/>
          <p:nvPr/>
        </p:nvSpPr>
        <p:spPr>
          <a:xfrm>
            <a:off x="4983480" y="1828800"/>
            <a:ext cx="4160520" cy="475488"/>
          </a:xfrm>
          <a:prstGeom prst="rect">
            <a:avLst/>
          </a:prstGeom>
          <a:solidFill>
            <a:srgbClr val="162055"/>
          </a:solidFill>
          <a:ln cap="flat" cmpd="sng" w="12700">
            <a:solidFill>
              <a:srgbClr val="2535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25"/>
          <p:cNvSpPr/>
          <p:nvPr/>
        </p:nvSpPr>
        <p:spPr>
          <a:xfrm>
            <a:off x="5120640" y="1828800"/>
            <a:ext cx="26517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84FC"/>
              </a:buClr>
              <a:buSzPts val="1150"/>
              <a:buFont typeface="Consolas"/>
              <a:buNone/>
            </a:pPr>
            <a:r>
              <a:rPr b="1" i="0" lang="fr" sz="1150" u="none" cap="none" strike="noStrike">
                <a:solidFill>
                  <a:srgbClr val="C084FC"/>
                </a:solidFill>
                <a:latin typeface="Consolas"/>
                <a:ea typeface="Consolas"/>
                <a:cs typeface="Consolas"/>
                <a:sym typeface="Consolas"/>
              </a:rPr>
              <a:t>git log --oneline --graph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25"/>
          <p:cNvSpPr/>
          <p:nvPr/>
        </p:nvSpPr>
        <p:spPr>
          <a:xfrm>
            <a:off x="7772400" y="1828800"/>
            <a:ext cx="123444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BD4"/>
              </a:buClr>
              <a:buSzPts val="1100"/>
              <a:buFont typeface="Calibri"/>
              <a:buNone/>
            </a:pPr>
            <a:r>
              <a:rPr b="0" i="0" lang="fr" sz="1100" u="none" cap="none" strike="noStrike">
                <a:solidFill>
                  <a:srgbClr val="AABBD4"/>
                </a:solidFill>
                <a:latin typeface="Calibri"/>
                <a:ea typeface="Calibri"/>
                <a:cs typeface="Calibri"/>
                <a:sym typeface="Calibri"/>
              </a:rPr>
              <a:t>→ Comprendre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25"/>
          <p:cNvSpPr/>
          <p:nvPr/>
        </p:nvSpPr>
        <p:spPr>
          <a:xfrm>
            <a:off x="365760" y="3566160"/>
            <a:ext cx="8229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fr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📚 Pour aller plus loin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25"/>
          <p:cNvSpPr/>
          <p:nvPr/>
        </p:nvSpPr>
        <p:spPr>
          <a:xfrm>
            <a:off x="365760" y="3950208"/>
            <a:ext cx="84124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AABBD4"/>
              </a:buClr>
              <a:buSzPts val="1050"/>
              <a:buFont typeface="Calibri"/>
              <a:buChar char="•"/>
            </a:pPr>
            <a:r>
              <a:rPr b="0" i="0" lang="fr" sz="1050" u="none" cap="none" strike="noStrike">
                <a:solidFill>
                  <a:srgbClr val="AABBD4"/>
                </a:solidFill>
                <a:latin typeface="Calibri"/>
                <a:ea typeface="Calibri"/>
                <a:cs typeface="Calibri"/>
                <a:sym typeface="Calibri"/>
              </a:rPr>
              <a:t>git-scm.com/book — Pro Git (gratuit, en français)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AABBD4"/>
              </a:buClr>
              <a:buSzPts val="1050"/>
              <a:buFont typeface="Calibri"/>
              <a:buChar char="•"/>
            </a:pPr>
            <a:r>
              <a:rPr b="0" i="0" lang="fr" sz="1050" u="none" cap="none" strike="noStrike">
                <a:solidFill>
                  <a:srgbClr val="AABBD4"/>
                </a:solidFill>
                <a:latin typeface="Calibri"/>
                <a:ea typeface="Calibri"/>
                <a:cs typeface="Calibri"/>
                <a:sym typeface="Calibri"/>
              </a:rPr>
              <a:t>learngitbranching.js.org — visualiser les branches interactivement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AABBD4"/>
              </a:buClr>
              <a:buSzPts val="1050"/>
              <a:buFont typeface="Calibri"/>
              <a:buChar char="•"/>
            </a:pPr>
            <a:r>
              <a:rPr b="0" i="0" lang="fr" sz="1050" u="none" cap="none" strike="noStrike">
                <a:solidFill>
                  <a:srgbClr val="AABBD4"/>
                </a:solidFill>
                <a:latin typeface="Calibri"/>
                <a:ea typeface="Calibri"/>
                <a:cs typeface="Calibri"/>
                <a:sym typeface="Calibri"/>
              </a:rPr>
              <a:t>ohshitgit.com/fr — corriger les erreurs courantes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AABBD4"/>
              </a:buClr>
              <a:buSzPts val="1050"/>
              <a:buFont typeface="Calibri"/>
              <a:buChar char="•"/>
            </a:pPr>
            <a:r>
              <a:rPr b="0" i="0" lang="fr" sz="1050" u="none" cap="none" strike="noStrike">
                <a:solidFill>
                  <a:srgbClr val="AABBD4"/>
                </a:solidFill>
                <a:latin typeface="Calibri"/>
                <a:ea typeface="Calibri"/>
                <a:cs typeface="Calibri"/>
                <a:sym typeface="Calibri"/>
              </a:rPr>
              <a:t>conventionalcommits.org/fr — nommer ses commits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25"/>
          <p:cNvSpPr/>
          <p:nvPr/>
        </p:nvSpPr>
        <p:spPr>
          <a:xfrm>
            <a:off x="365760" y="4800600"/>
            <a:ext cx="8412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9BD5"/>
              </a:buClr>
              <a:buSzPts val="1000"/>
              <a:buFont typeface="Calibri"/>
              <a:buNone/>
            </a:pPr>
            <a:r>
              <a:rPr b="0" i="0" lang="fr" sz="1000" u="none" cap="none" strike="noStrike">
                <a:solidFill>
                  <a:srgbClr val="5B9BD5"/>
                </a:solidFill>
                <a:latin typeface="Calibri"/>
                <a:ea typeface="Calibri"/>
                <a:cs typeface="Calibri"/>
                <a:sym typeface="Calibri"/>
              </a:rPr>
              <a:t>🔗 Repo de cours : github.com/[ton-pseudo]/git-crash-course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